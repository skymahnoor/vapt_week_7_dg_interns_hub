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658949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-571500" y="-642937"/>
            <a:ext cx="2286000" cy="2286000"/>
          </a:xfrm>
          <a:prstGeom prst="roundRect">
            <a:avLst>
              <a:gd name="adj" fmla="val 4166250"/>
            </a:avLst>
          </a:prstGeom>
          <a:solidFill>
            <a:srgbClr val="BFE0F5">
              <a:alpha val="5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1"/>
          <p:cNvSpPr/>
          <p:nvPr/>
        </p:nvSpPr>
        <p:spPr>
          <a:xfrm>
            <a:off x="7715250" y="3786188"/>
            <a:ext cx="1857375" cy="1857375"/>
          </a:xfrm>
          <a:prstGeom prst="roundRect">
            <a:avLst>
              <a:gd name="adj" fmla="val 5127692"/>
            </a:avLst>
          </a:prstGeom>
          <a:solidFill>
            <a:srgbClr val="D5EBFA">
              <a:alpha val="5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2"/>
          <p:cNvSpPr/>
          <p:nvPr/>
        </p:nvSpPr>
        <p:spPr>
          <a:xfrm>
            <a:off x="0" y="4868466"/>
            <a:ext cx="863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kern="0" spc="50" dirty="0">
                <a:solidFill>
                  <a:srgbClr val="6B829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DVWA LAB ONLY · OWASP WSTG V4.2 · BURP SUITE COMMUNITY EDITION</a:t>
            </a:r>
            <a:endParaRPr lang="en-US" sz="800" dirty="0"/>
          </a:p>
        </p:txBody>
      </p:sp>
      <p:sp>
        <p:nvSpPr>
          <p:cNvPr id="7" name="Text 3"/>
          <p:cNvSpPr/>
          <p:nvPr/>
        </p:nvSpPr>
        <p:spPr>
          <a:xfrm>
            <a:off x="3630811" y="1100696"/>
            <a:ext cx="1882378" cy="175022"/>
          </a:xfrm>
          <a:prstGeom prst="roundRect">
            <a:avLst>
              <a:gd name="adj" fmla="val 5436731"/>
            </a:avLst>
          </a:prstGeom>
          <a:solidFill>
            <a:srgbClr val="C9E4F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3630811" y="1100696"/>
            <a:ext cx="1882378" cy="244394"/>
          </a:xfrm>
          <a:prstGeom prst="rect">
            <a:avLst/>
          </a:prstGeom>
          <a:noFill/>
          <a:ln/>
        </p:spPr>
        <p:txBody>
          <a:bodyPr wrap="square" lIns="71438" tIns="28575" rIns="71438" bIns="28575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kern="0" spc="37" dirty="0">
                <a:solidFill>
                  <a:srgbClr val="2E78B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WEEK 07 · CYBERSECURITY INTERNSHIP</a:t>
            </a:r>
            <a:endParaRPr lang="en-US" sz="619" dirty="0"/>
          </a:p>
        </p:txBody>
      </p:sp>
      <p:sp>
        <p:nvSpPr>
          <p:cNvPr id="9" name="Text 5"/>
          <p:cNvSpPr/>
          <p:nvPr/>
        </p:nvSpPr>
        <p:spPr>
          <a:xfrm>
            <a:off x="274320" y="1461455"/>
            <a:ext cx="8595360" cy="631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607"/>
              </a:lnSpc>
              <a:buNone/>
            </a:pPr>
            <a:r>
              <a:rPr lang="en-US" sz="4388" b="1" kern="0" spc="-66" dirty="0">
                <a:solidFill>
                  <a:srgbClr val="1E3A5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Web Application VAPT</a:t>
            </a:r>
            <a:endParaRPr lang="en-US" sz="4388" dirty="0"/>
          </a:p>
        </p:txBody>
      </p:sp>
      <p:sp>
        <p:nvSpPr>
          <p:cNvPr id="10" name="Text 6"/>
          <p:cNvSpPr/>
          <p:nvPr/>
        </p:nvSpPr>
        <p:spPr>
          <a:xfrm>
            <a:off x="2140611" y="2146474"/>
            <a:ext cx="4862777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800" dirty="0">
                <a:solidFill>
                  <a:srgbClr val="3A54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full Burp Suite engagement against DVWA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4286250" y="2589386"/>
            <a:ext cx="571500" cy="7144"/>
          </a:xfrm>
          <a:prstGeom prst="rect">
            <a:avLst/>
          </a:prstGeom>
          <a:solidFill>
            <a:srgbClr val="C9E4F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2000250" y="2753692"/>
            <a:ext cx="5143500" cy="382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95"/>
              </a:lnSpc>
              <a:buNone/>
            </a:pPr>
            <a:r>
              <a:rPr lang="en-US" sz="900" dirty="0">
                <a:solidFill>
                  <a:srgbClr val="3A54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Vulnerability Assessment and Penetration Testing engagement run end-to-end through Burp Suite, with a written report at the end.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3514725" y="3340150"/>
            <a:ext cx="2114550" cy="441796"/>
          </a:xfrm>
          <a:prstGeom prst="roundRect">
            <a:avLst>
              <a:gd name="adj" fmla="val 38808"/>
            </a:avLst>
          </a:prstGeom>
          <a:solidFill>
            <a:srgbClr val="FFFFFF"/>
          </a:solidFill>
          <a:ln w="7144">
            <a:solidFill>
              <a:srgbClr val="D6E8F5"/>
            </a:solidFill>
            <a:prstDash val="solid"/>
          </a:ln>
          <a:effectLst>
            <a:outerShdw blurRad="266700" dist="76200" dir="5400000" algn="bl" rotWithShape="0">
              <a:srgbClr val="1E3A5F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3704034" y="3487409"/>
            <a:ext cx="1805368" cy="1346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60"/>
              </a:lnSpc>
              <a:buNone/>
            </a:pPr>
            <a:r>
              <a:rPr lang="en-US" sz="731" dirty="0">
                <a:solidFill>
                  <a:srgbClr val="6B829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DG Interns Hub — Cybersecurity Track</a:t>
            </a:r>
            <a:endParaRPr lang="en-US" sz="731" dirty="0"/>
          </a:p>
        </p:txBody>
      </p:sp>
      <p:sp>
        <p:nvSpPr>
          <p:cNvPr id="15" name="Text 11"/>
          <p:cNvSpPr/>
          <p:nvPr/>
        </p:nvSpPr>
        <p:spPr>
          <a:xfrm>
            <a:off x="4206329" y="3914105"/>
            <a:ext cx="88676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kern="0" spc="41" dirty="0">
                <a:solidFill>
                  <a:srgbClr val="2E78B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OCTOBER 2025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A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4340" y="396692"/>
            <a:ext cx="1173316" cy="196025"/>
          </a:xfrm>
          <a:prstGeom prst="roundRect">
            <a:avLst>
              <a:gd name="adj" fmla="val 4854215"/>
            </a:avLst>
          </a:prstGeom>
          <a:solidFill>
            <a:srgbClr val="C9E4F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407194"/>
            <a:ext cx="112759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kern="0" spc="37" dirty="0">
                <a:solidFill>
                  <a:srgbClr val="2E78B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 · THE ENGAGEMENT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82228"/>
            <a:ext cx="8636000" cy="3193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29"/>
              </a:lnSpc>
              <a:buNone/>
            </a:pPr>
            <a:r>
              <a:rPr lang="en-US" sz="2025" dirty="0">
                <a:solidFill>
                  <a:srgbClr val="1E3A5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Engagement scope</a:t>
            </a:r>
            <a:endParaRPr lang="en-US" sz="2025" dirty="0"/>
          </a:p>
        </p:txBody>
      </p:sp>
      <p:sp>
        <p:nvSpPr>
          <p:cNvPr id="5" name="Text 3"/>
          <p:cNvSpPr/>
          <p:nvPr/>
        </p:nvSpPr>
        <p:spPr>
          <a:xfrm>
            <a:off x="457200" y="1063637"/>
            <a:ext cx="7000875" cy="5381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8"/>
              </a:lnSpc>
              <a:buNone/>
            </a:pPr>
            <a:r>
              <a:rPr lang="en-US" sz="844" dirty="0">
                <a:solidFill>
                  <a:srgbClr val="3A54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Week 7 deliverable was a full VAPT engagement against DVWA. Coming from active bug bounty work on HackerOne and Bugcrowd, the goal here was running a clean, repeatable end-to-end manual workflow and documenting it to a professional standard — not discovering new vulnerability classes.</a:t>
            </a:r>
            <a:endParaRPr lang="en-US" sz="844" dirty="0"/>
          </a:p>
        </p:txBody>
      </p:sp>
      <p:sp>
        <p:nvSpPr>
          <p:cNvPr id="6" name="Text 4"/>
          <p:cNvSpPr/>
          <p:nvPr/>
        </p:nvSpPr>
        <p:spPr>
          <a:xfrm>
            <a:off x="460772" y="1779798"/>
            <a:ext cx="2640732" cy="1860054"/>
          </a:xfrm>
          <a:prstGeom prst="roundRect">
            <a:avLst>
              <a:gd name="adj" fmla="val 9217"/>
            </a:avLst>
          </a:prstGeom>
          <a:solidFill>
            <a:srgbClr val="FFFFFF"/>
          </a:solidFill>
          <a:ln w="7144">
            <a:solidFill>
              <a:srgbClr val="D6E8F5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21506" y="1936961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88" dirty="0">
                <a:solidFill>
                  <a:srgbClr val="2E78B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◯</a:t>
            </a:r>
            <a:endParaRPr lang="en-US" sz="1688" dirty="0"/>
          </a:p>
        </p:txBody>
      </p:sp>
      <p:sp>
        <p:nvSpPr>
          <p:cNvPr id="8" name="Text 6"/>
          <p:cNvSpPr/>
          <p:nvPr/>
        </p:nvSpPr>
        <p:spPr>
          <a:xfrm>
            <a:off x="850106" y="1926245"/>
            <a:ext cx="2090663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19"/>
              </a:lnSpc>
              <a:buNone/>
            </a:pPr>
            <a:r>
              <a:rPr lang="en-US" sz="1013" dirty="0">
                <a:solidFill>
                  <a:srgbClr val="1E3A5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Target Application</a:t>
            </a:r>
            <a:endParaRPr lang="en-US" sz="1013" dirty="0"/>
          </a:p>
        </p:txBody>
      </p:sp>
      <p:sp>
        <p:nvSpPr>
          <p:cNvPr id="9" name="Text 7"/>
          <p:cNvSpPr/>
          <p:nvPr/>
        </p:nvSpPr>
        <p:spPr>
          <a:xfrm>
            <a:off x="621506" y="2219139"/>
            <a:ext cx="2428991" cy="1480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63"/>
              </a:lnSpc>
              <a:buNone/>
            </a:pPr>
            <a:r>
              <a:rPr lang="en-US" sz="800" dirty="0">
                <a:solidFill>
                  <a:srgbClr val="1E3A5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DVWA v1.9 — Damn Vulnerable Web App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21506" y="2439814"/>
            <a:ext cx="2428991" cy="121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731" dirty="0">
                <a:solidFill>
                  <a:srgbClr val="3A54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Stack: XAMPP / Apache 2.4 + PHP 7.4 + MariaDB 10.4</a:t>
            </a:r>
            <a:endParaRPr lang="en-US" sz="731" dirty="0"/>
          </a:p>
        </p:txBody>
      </p:sp>
      <p:sp>
        <p:nvSpPr>
          <p:cNvPr id="11" name="Text 9"/>
          <p:cNvSpPr/>
          <p:nvPr/>
        </p:nvSpPr>
        <p:spPr>
          <a:xfrm>
            <a:off x="621506" y="2588382"/>
            <a:ext cx="2428991" cy="121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800" dirty="0">
                <a:solidFill>
                  <a:srgbClr val="3A54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Endpoint: http://localhost/dvwa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21506" y="2736949"/>
            <a:ext cx="2428991" cy="121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800" dirty="0">
                <a:solidFill>
                  <a:srgbClr val="3A54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Security levels: low → medium → high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21506" y="2885517"/>
            <a:ext cx="2319263" cy="3510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800" dirty="0">
                <a:solidFill>
                  <a:srgbClr val="3A54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Default creds: admin / password (initial authenticated session)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21506" y="3296952"/>
            <a:ext cx="2319263" cy="7144"/>
          </a:xfrm>
          <a:prstGeom prst="rect">
            <a:avLst/>
          </a:prstGeom>
          <a:solidFill>
            <a:srgbClr val="D6E8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21506" y="3375533"/>
            <a:ext cx="2428991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6B829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Maintained by the OWASP community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251522" y="1779798"/>
            <a:ext cx="2640843" cy="1860054"/>
          </a:xfrm>
          <a:prstGeom prst="roundRect">
            <a:avLst>
              <a:gd name="adj" fmla="val 9217"/>
            </a:avLst>
          </a:prstGeom>
          <a:solidFill>
            <a:srgbClr val="FFFFFF"/>
          </a:solidFill>
          <a:ln w="7144">
            <a:solidFill>
              <a:srgbClr val="D6E8F5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412257" y="1936961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88" dirty="0">
                <a:solidFill>
                  <a:srgbClr val="2E78B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⚒</a:t>
            </a:r>
            <a:endParaRPr lang="en-US" sz="1688" dirty="0"/>
          </a:p>
        </p:txBody>
      </p:sp>
      <p:sp>
        <p:nvSpPr>
          <p:cNvPr id="18" name="Text 16"/>
          <p:cNvSpPr/>
          <p:nvPr/>
        </p:nvSpPr>
        <p:spPr>
          <a:xfrm>
            <a:off x="3640857" y="1926245"/>
            <a:ext cx="2090775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19"/>
              </a:lnSpc>
              <a:buNone/>
            </a:pPr>
            <a:r>
              <a:rPr lang="en-US" sz="1013" dirty="0">
                <a:solidFill>
                  <a:srgbClr val="1E3A5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Testing Stack</a:t>
            </a:r>
            <a:endParaRPr lang="en-US" sz="1013" dirty="0"/>
          </a:p>
        </p:txBody>
      </p:sp>
      <p:sp>
        <p:nvSpPr>
          <p:cNvPr id="19" name="Text 17"/>
          <p:cNvSpPr/>
          <p:nvPr/>
        </p:nvSpPr>
        <p:spPr>
          <a:xfrm>
            <a:off x="3412257" y="2219139"/>
            <a:ext cx="1317226" cy="33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33"/>
              </a:lnSpc>
              <a:buNone/>
            </a:pPr>
            <a:r>
              <a:rPr lang="en-US" sz="800" dirty="0">
                <a:solidFill>
                  <a:srgbClr val="3A547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OS: Kali Linux 2024.2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607607" y="2219139"/>
            <a:ext cx="1191466" cy="3399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33"/>
              </a:lnSpc>
              <a:buNone/>
            </a:pPr>
            <a:r>
              <a:rPr lang="en-US" sz="800" dirty="0">
                <a:solidFill>
                  <a:srgbClr val="3A547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Browser: Firefox 128 + FoxyProxy 7.x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412257" y="2549761"/>
            <a:ext cx="1123913" cy="3399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33"/>
              </a:lnSpc>
              <a:buNone/>
            </a:pPr>
            <a:r>
              <a:rPr lang="en-US" sz="800" dirty="0">
                <a:solidFill>
                  <a:srgbClr val="3A547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Proxy: Burp Suite CE 2024.x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607607" y="2549761"/>
            <a:ext cx="1124024" cy="3399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33"/>
              </a:lnSpc>
              <a:buNone/>
            </a:pPr>
            <a:r>
              <a:rPr lang="en-US" sz="800" dirty="0">
                <a:solidFill>
                  <a:srgbClr val="3A547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Content discovery: Dirsearch 0.4.3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412257" y="2880382"/>
            <a:ext cx="1123913" cy="3399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33"/>
              </a:lnSpc>
              <a:buNone/>
            </a:pPr>
            <a:r>
              <a:rPr lang="en-US" sz="800" dirty="0">
                <a:solidFill>
                  <a:srgbClr val="3A547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Cross-check: Gobuster 3.6.0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607607" y="2880382"/>
            <a:ext cx="1124024" cy="33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33"/>
              </a:lnSpc>
              <a:buNone/>
            </a:pPr>
            <a:r>
              <a:rPr lang="en-US" sz="800" dirty="0">
                <a:solidFill>
                  <a:srgbClr val="3A547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Target: DVWA 1.9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412257" y="3282442"/>
            <a:ext cx="2319375" cy="7144"/>
          </a:xfrm>
          <a:prstGeom prst="rect">
            <a:avLst/>
          </a:prstGeom>
          <a:solidFill>
            <a:srgbClr val="D6E8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3412257" y="3361023"/>
            <a:ext cx="2429103" cy="1323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6B829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All traffic stayed on 127.0.0.1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042385" y="1779798"/>
            <a:ext cx="2640732" cy="1860054"/>
          </a:xfrm>
          <a:prstGeom prst="roundRect">
            <a:avLst>
              <a:gd name="adj" fmla="val 9217"/>
            </a:avLst>
          </a:prstGeom>
          <a:solidFill>
            <a:srgbClr val="FFFFFF"/>
          </a:solidFill>
          <a:ln w="7144">
            <a:solidFill>
              <a:srgbClr val="D6E8F5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6203119" y="1936961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88" dirty="0">
                <a:solidFill>
                  <a:srgbClr val="2E78B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688" dirty="0"/>
          </a:p>
        </p:txBody>
      </p:sp>
      <p:sp>
        <p:nvSpPr>
          <p:cNvPr id="29" name="Text 27"/>
          <p:cNvSpPr/>
          <p:nvPr/>
        </p:nvSpPr>
        <p:spPr>
          <a:xfrm>
            <a:off x="6431719" y="1926245"/>
            <a:ext cx="2090663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19"/>
              </a:lnSpc>
              <a:buNone/>
            </a:pPr>
            <a:r>
              <a:rPr lang="en-US" sz="1013" dirty="0">
                <a:solidFill>
                  <a:srgbClr val="1E3A5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Practice Targets</a:t>
            </a:r>
            <a:endParaRPr lang="en-US" sz="1013" dirty="0"/>
          </a:p>
        </p:txBody>
      </p:sp>
      <p:sp>
        <p:nvSpPr>
          <p:cNvPr id="30" name="Text 28"/>
          <p:cNvSpPr/>
          <p:nvPr/>
        </p:nvSpPr>
        <p:spPr>
          <a:xfrm>
            <a:off x="6203119" y="2219139"/>
            <a:ext cx="2319263" cy="163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731" dirty="0">
                <a:solidFill>
                  <a:srgbClr val="3A54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Per the Week 7 brief, authorised safe targets only:</a:t>
            </a:r>
            <a:endParaRPr lang="en-US" sz="731" dirty="0"/>
          </a:p>
        </p:txBody>
      </p:sp>
      <p:sp>
        <p:nvSpPr>
          <p:cNvPr id="31" name="Text 29"/>
          <p:cNvSpPr/>
          <p:nvPr/>
        </p:nvSpPr>
        <p:spPr>
          <a:xfrm>
            <a:off x="6203119" y="2410569"/>
            <a:ext cx="2319263" cy="298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60"/>
              </a:lnSpc>
              <a:buNone/>
            </a:pPr>
            <a:r>
              <a:rPr lang="en-US" sz="800" dirty="0">
                <a:solidFill>
                  <a:srgbClr val="1E3A5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DVWA · OWASP Juice Shop · TestPHP (demo.testfire.net)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203119" y="2736949"/>
            <a:ext cx="2319263" cy="3510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800" dirty="0">
                <a:solidFill>
                  <a:srgbClr val="3A54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Engagement used DVWA. No production systems, no third-party sites, no real-world targets tested.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203119" y="3148385"/>
            <a:ext cx="2319263" cy="7144"/>
          </a:xfrm>
          <a:prstGeom prst="rect">
            <a:avLst/>
          </a:prstGeom>
          <a:solidFill>
            <a:srgbClr val="D6E8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6203119" y="3226966"/>
            <a:ext cx="242899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6B829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Demo apps only — strictly lab scope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57200" y="4868466"/>
            <a:ext cx="795289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25" dirty="0">
                <a:solidFill>
                  <a:srgbClr val="6B829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Week 7 VAPT · DG Interns Hub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8424379" y="4868466"/>
            <a:ext cx="36501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kern="0" spc="25" dirty="0">
                <a:solidFill>
                  <a:srgbClr val="6B829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 / 10</a:t>
            </a:r>
            <a:endParaRPr lang="en-US" sz="619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A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7194"/>
            <a:ext cx="1789621" cy="175022"/>
          </a:xfrm>
          <a:prstGeom prst="roundRect">
            <a:avLst>
              <a:gd name="adj" fmla="val 5436731"/>
            </a:avLst>
          </a:prstGeom>
          <a:solidFill>
            <a:srgbClr val="C9E4F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407194"/>
            <a:ext cx="1789621" cy="244394"/>
          </a:xfrm>
          <a:prstGeom prst="rect">
            <a:avLst/>
          </a:prstGeom>
          <a:noFill/>
          <a:ln/>
        </p:spPr>
        <p:txBody>
          <a:bodyPr wrap="square" lIns="71438" tIns="28575" rIns="71438" bIns="28575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kern="0" spc="37" dirty="0">
                <a:solidFill>
                  <a:srgbClr val="2E78B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 · TASK 22 · SETUP &amp; INTERCEPTION</a:t>
            </a:r>
            <a:endParaRPr lang="en-US" sz="619" dirty="0"/>
          </a:p>
        </p:txBody>
      </p:sp>
      <p:sp>
        <p:nvSpPr>
          <p:cNvPr id="4" name="Text 2"/>
          <p:cNvSpPr/>
          <p:nvPr/>
        </p:nvSpPr>
        <p:spPr>
          <a:xfrm>
            <a:off x="457200" y="682228"/>
            <a:ext cx="8636000" cy="319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29"/>
              </a:lnSpc>
              <a:buNone/>
            </a:pPr>
            <a:r>
              <a:rPr lang="en-US" sz="2025" dirty="0">
                <a:solidFill>
                  <a:srgbClr val="1E3A5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Burp Suite setup &amp; interception chain</a:t>
            </a:r>
            <a:endParaRPr lang="en-US" sz="2025" dirty="0"/>
          </a:p>
        </p:txBody>
      </p:sp>
      <p:sp>
        <p:nvSpPr>
          <p:cNvPr id="5" name="Text 3"/>
          <p:cNvSpPr/>
          <p:nvPr/>
        </p:nvSpPr>
        <p:spPr>
          <a:xfrm>
            <a:off x="457200" y="1063637"/>
            <a:ext cx="7000875" cy="358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8"/>
              </a:lnSpc>
              <a:buNone/>
            </a:pPr>
            <a:r>
              <a:rPr lang="en-US" sz="844" dirty="0">
                <a:solidFill>
                  <a:srgbClr val="3A54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Five sub-tasks from the Week 7 brief — install, configure, intercept, trust, capture. Each completed during the engagement to wire the chain: browser → proxy → app and back.</a:t>
            </a:r>
            <a:endParaRPr lang="en-US" sz="844" dirty="0"/>
          </a:p>
        </p:txBody>
      </p:sp>
      <p:sp>
        <p:nvSpPr>
          <p:cNvPr id="6" name="Text 4"/>
          <p:cNvSpPr/>
          <p:nvPr/>
        </p:nvSpPr>
        <p:spPr>
          <a:xfrm>
            <a:off x="460772" y="1599419"/>
            <a:ext cx="1493044" cy="2564606"/>
          </a:xfrm>
          <a:prstGeom prst="roundRect">
            <a:avLst>
              <a:gd name="adj" fmla="val 11483"/>
            </a:avLst>
          </a:prstGeom>
          <a:solidFill>
            <a:srgbClr val="FFFFFF"/>
          </a:solidFill>
          <a:ln w="7144">
            <a:solidFill>
              <a:srgbClr val="D6E8F5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67671" y="1721077"/>
            <a:ext cx="268628" cy="196025"/>
          </a:xfrm>
          <a:prstGeom prst="roundRect">
            <a:avLst>
              <a:gd name="adj" fmla="val 4854215"/>
            </a:avLst>
          </a:prstGeom>
          <a:solidFill>
            <a:srgbClr val="C9E4F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78644" y="1731578"/>
            <a:ext cx="24668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kern="0" spc="37" dirty="0">
                <a:solidFill>
                  <a:srgbClr val="2E78B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707356" y="175479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4DAF7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10" name="Text 8"/>
          <p:cNvSpPr/>
          <p:nvPr/>
        </p:nvSpPr>
        <p:spPr>
          <a:xfrm>
            <a:off x="1107281" y="2035187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969" dirty="0">
                <a:solidFill>
                  <a:srgbClr val="2E78B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↓</a:t>
            </a:r>
            <a:endParaRPr lang="en-US" sz="1969" dirty="0"/>
          </a:p>
        </p:txBody>
      </p:sp>
      <p:sp>
        <p:nvSpPr>
          <p:cNvPr id="11" name="Text 9"/>
          <p:cNvSpPr/>
          <p:nvPr/>
        </p:nvSpPr>
        <p:spPr>
          <a:xfrm>
            <a:off x="578644" y="2335225"/>
            <a:ext cx="125730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25"/>
              </a:lnSpc>
              <a:buNone/>
            </a:pPr>
            <a:r>
              <a:rPr lang="en-US" sz="900" dirty="0">
                <a:solidFill>
                  <a:srgbClr val="1E3A5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Install Burp Suite CE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78644" y="2549537"/>
            <a:ext cx="129501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13"/>
              </a:lnSpc>
              <a:buNone/>
            </a:pPr>
            <a:r>
              <a:rPr lang="en-US" sz="800" dirty="0">
                <a:solidFill>
                  <a:srgbClr val="3A54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Burp Suite Community Edition installed on Kali Linux 2024.2 from portswigger.net. Default options. Proxy, Target, Repeater, Intruder, Decoder tabs loaded.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78644" y="3924709"/>
            <a:ext cx="1257300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844"/>
              </a:lnSpc>
              <a:buNone/>
            </a:pPr>
            <a:r>
              <a:rPr lang="en-US" sz="800" kern="0" spc="34" dirty="0">
                <a:solidFill>
                  <a:srgbClr val="2E78B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COMPLETED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957388" y="2795997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6" dirty="0">
                <a:solidFill>
                  <a:srgbClr val="5DA9DD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406" dirty="0"/>
          </a:p>
        </p:txBody>
      </p:sp>
      <p:sp>
        <p:nvSpPr>
          <p:cNvPr id="15" name="Text 13"/>
          <p:cNvSpPr/>
          <p:nvPr/>
        </p:nvSpPr>
        <p:spPr>
          <a:xfrm>
            <a:off x="2132409" y="1599419"/>
            <a:ext cx="1493044" cy="2564606"/>
          </a:xfrm>
          <a:prstGeom prst="roundRect">
            <a:avLst>
              <a:gd name="adj" fmla="val 11483"/>
            </a:avLst>
          </a:prstGeom>
          <a:solidFill>
            <a:srgbClr val="FFFFFF"/>
          </a:solidFill>
          <a:ln w="7144">
            <a:solidFill>
              <a:srgbClr val="D6E8F5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2239308" y="1721077"/>
            <a:ext cx="268628" cy="196025"/>
          </a:xfrm>
          <a:prstGeom prst="roundRect">
            <a:avLst>
              <a:gd name="adj" fmla="val 4854215"/>
            </a:avLst>
          </a:prstGeom>
          <a:solidFill>
            <a:srgbClr val="C9E4F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250281" y="1731578"/>
            <a:ext cx="24668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kern="0" spc="37" dirty="0">
                <a:solidFill>
                  <a:srgbClr val="2E78B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378994" y="175479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4DAF7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19" name="Text 17"/>
          <p:cNvSpPr/>
          <p:nvPr/>
        </p:nvSpPr>
        <p:spPr>
          <a:xfrm>
            <a:off x="2778919" y="2035187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969" dirty="0">
                <a:solidFill>
                  <a:srgbClr val="2E78B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⚙</a:t>
            </a:r>
            <a:endParaRPr lang="en-US" sz="1969" dirty="0"/>
          </a:p>
        </p:txBody>
      </p:sp>
      <p:sp>
        <p:nvSpPr>
          <p:cNvPr id="20" name="Text 18"/>
          <p:cNvSpPr/>
          <p:nvPr/>
        </p:nvSpPr>
        <p:spPr>
          <a:xfrm>
            <a:off x="2250281" y="2335225"/>
            <a:ext cx="1257300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125"/>
              </a:lnSpc>
              <a:buNone/>
            </a:pPr>
            <a:r>
              <a:rPr lang="en-US" sz="900" dirty="0">
                <a:solidFill>
                  <a:srgbClr val="1E3A5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Configure Browser Proxy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250281" y="2692412"/>
            <a:ext cx="129501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13"/>
              </a:lnSpc>
              <a:buNone/>
            </a:pPr>
            <a:r>
              <a:rPr lang="en-US" sz="800" dirty="0">
                <a:solidFill>
                  <a:srgbClr val="3A54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Firefox routed at 127.0.0.1:8080 via FoxyProxy toggle. HTTP and HTTPS traffic paused inside Burp until forwarded, modified, or dropped.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250281" y="3924709"/>
            <a:ext cx="1257300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844"/>
              </a:lnSpc>
              <a:buNone/>
            </a:pPr>
            <a:r>
              <a:rPr lang="en-US" sz="800" kern="0" spc="34" dirty="0">
                <a:solidFill>
                  <a:srgbClr val="2E78B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COMPLETED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629025" y="2795997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6" dirty="0">
                <a:solidFill>
                  <a:srgbClr val="5DA9DD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406" dirty="0"/>
          </a:p>
        </p:txBody>
      </p:sp>
      <p:sp>
        <p:nvSpPr>
          <p:cNvPr id="24" name="Text 22"/>
          <p:cNvSpPr/>
          <p:nvPr/>
        </p:nvSpPr>
        <p:spPr>
          <a:xfrm>
            <a:off x="3804047" y="1599419"/>
            <a:ext cx="1493044" cy="2564606"/>
          </a:xfrm>
          <a:prstGeom prst="roundRect">
            <a:avLst>
              <a:gd name="adj" fmla="val 11483"/>
            </a:avLst>
          </a:prstGeom>
          <a:solidFill>
            <a:srgbClr val="FFFFFF"/>
          </a:solidFill>
          <a:ln w="7144">
            <a:solidFill>
              <a:srgbClr val="D6E8F5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910946" y="1721077"/>
            <a:ext cx="268628" cy="196025"/>
          </a:xfrm>
          <a:prstGeom prst="roundRect">
            <a:avLst>
              <a:gd name="adj" fmla="val 4854215"/>
            </a:avLst>
          </a:prstGeom>
          <a:solidFill>
            <a:srgbClr val="C9E4F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3921919" y="1731578"/>
            <a:ext cx="24668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kern="0" spc="37" dirty="0">
                <a:solidFill>
                  <a:srgbClr val="2E78B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050631" y="175479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4DAF7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28" name="Text 26"/>
          <p:cNvSpPr/>
          <p:nvPr/>
        </p:nvSpPr>
        <p:spPr>
          <a:xfrm>
            <a:off x="4450556" y="2035187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969" dirty="0">
                <a:solidFill>
                  <a:srgbClr val="2E78B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◌</a:t>
            </a:r>
            <a:endParaRPr lang="en-US" sz="1969" dirty="0"/>
          </a:p>
        </p:txBody>
      </p:sp>
      <p:sp>
        <p:nvSpPr>
          <p:cNvPr id="29" name="Text 27"/>
          <p:cNvSpPr/>
          <p:nvPr/>
        </p:nvSpPr>
        <p:spPr>
          <a:xfrm>
            <a:off x="3921919" y="2335225"/>
            <a:ext cx="1257300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125"/>
              </a:lnSpc>
              <a:buNone/>
            </a:pPr>
            <a:r>
              <a:rPr lang="en-US" sz="900" dirty="0">
                <a:solidFill>
                  <a:srgbClr val="1E3A5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Intercept HTTP/HTTPS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921919" y="2549537"/>
            <a:ext cx="129501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13"/>
              </a:lnSpc>
              <a:buNone/>
            </a:pPr>
            <a:r>
              <a:rPr lang="en-US" sz="800" dirty="0">
                <a:solidFill>
                  <a:srgbClr val="3A54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Every request and response between browser and DVWA captured in Burp Proxy &gt; Intercept. Inspected, modified, or forwarded on demand.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921919" y="3924709"/>
            <a:ext cx="1257300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844"/>
              </a:lnSpc>
              <a:buNone/>
            </a:pPr>
            <a:r>
              <a:rPr lang="en-US" sz="800" kern="0" spc="34" dirty="0">
                <a:solidFill>
                  <a:srgbClr val="2E78B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COMPLETED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300663" y="2795997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6" dirty="0">
                <a:solidFill>
                  <a:srgbClr val="5DA9DD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406" dirty="0"/>
          </a:p>
        </p:txBody>
      </p:sp>
      <p:sp>
        <p:nvSpPr>
          <p:cNvPr id="33" name="Text 31"/>
          <p:cNvSpPr/>
          <p:nvPr/>
        </p:nvSpPr>
        <p:spPr>
          <a:xfrm>
            <a:off x="5475684" y="1599419"/>
            <a:ext cx="1493044" cy="2564606"/>
          </a:xfrm>
          <a:prstGeom prst="roundRect">
            <a:avLst>
              <a:gd name="adj" fmla="val 11483"/>
            </a:avLst>
          </a:prstGeom>
          <a:solidFill>
            <a:srgbClr val="FFFFFF"/>
          </a:solidFill>
          <a:ln w="7144">
            <a:solidFill>
              <a:srgbClr val="D6E8F5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5582583" y="1721077"/>
            <a:ext cx="268628" cy="196025"/>
          </a:xfrm>
          <a:prstGeom prst="roundRect">
            <a:avLst>
              <a:gd name="adj" fmla="val 4854215"/>
            </a:avLst>
          </a:prstGeom>
          <a:solidFill>
            <a:srgbClr val="C9E4F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5593556" y="1731578"/>
            <a:ext cx="24668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kern="0" spc="37" dirty="0">
                <a:solidFill>
                  <a:srgbClr val="2E78B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722269" y="175479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4DAF7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37" name="Text 35"/>
          <p:cNvSpPr/>
          <p:nvPr/>
        </p:nvSpPr>
        <p:spPr>
          <a:xfrm>
            <a:off x="6122194" y="2035187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969" dirty="0">
                <a:solidFill>
                  <a:srgbClr val="2E78B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969" dirty="0"/>
          </a:p>
        </p:txBody>
      </p:sp>
      <p:sp>
        <p:nvSpPr>
          <p:cNvPr id="38" name="Text 36"/>
          <p:cNvSpPr/>
          <p:nvPr/>
        </p:nvSpPr>
        <p:spPr>
          <a:xfrm>
            <a:off x="5593556" y="2335225"/>
            <a:ext cx="125730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25"/>
              </a:lnSpc>
              <a:buNone/>
            </a:pPr>
            <a:r>
              <a:rPr lang="en-US" sz="900" dirty="0">
                <a:solidFill>
                  <a:srgbClr val="1E3A5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Install Burp CA Certificate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593556" y="2692412"/>
            <a:ext cx="129501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13"/>
              </a:lnSpc>
              <a:buNone/>
            </a:pPr>
            <a:r>
              <a:rPr lang="en-US" sz="800" dirty="0">
                <a:solidFill>
                  <a:srgbClr val="3A54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PortSwigger CA cert imported into Firefox Authorities via http://burp/cert. Green padlocks on HTTPS, full request/response decryption enabled.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593556" y="3924709"/>
            <a:ext cx="1257300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844"/>
              </a:lnSpc>
              <a:buNone/>
            </a:pPr>
            <a:r>
              <a:rPr lang="en-US" sz="800" kern="0" spc="34" dirty="0">
                <a:solidFill>
                  <a:srgbClr val="2E78B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COMPLETED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972300" y="2795997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6" dirty="0">
                <a:solidFill>
                  <a:srgbClr val="5DA9DD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406" dirty="0"/>
          </a:p>
        </p:txBody>
      </p:sp>
      <p:sp>
        <p:nvSpPr>
          <p:cNvPr id="42" name="Text 40"/>
          <p:cNvSpPr/>
          <p:nvPr/>
        </p:nvSpPr>
        <p:spPr>
          <a:xfrm>
            <a:off x="7147322" y="1599419"/>
            <a:ext cx="1493044" cy="2564606"/>
          </a:xfrm>
          <a:prstGeom prst="roundRect">
            <a:avLst>
              <a:gd name="adj" fmla="val 11483"/>
            </a:avLst>
          </a:prstGeom>
          <a:solidFill>
            <a:srgbClr val="FFFFFF"/>
          </a:solidFill>
          <a:ln w="7144">
            <a:solidFill>
              <a:srgbClr val="D6E8F5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7254221" y="1721077"/>
            <a:ext cx="268628" cy="196025"/>
          </a:xfrm>
          <a:prstGeom prst="roundRect">
            <a:avLst>
              <a:gd name="adj" fmla="val 4854215"/>
            </a:avLst>
          </a:prstGeom>
          <a:solidFill>
            <a:srgbClr val="C9E4F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7265194" y="1731578"/>
            <a:ext cx="24668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kern="0" spc="37" dirty="0">
                <a:solidFill>
                  <a:srgbClr val="2E78B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8393906" y="175479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4DAF7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46" name="Text 44"/>
          <p:cNvSpPr/>
          <p:nvPr/>
        </p:nvSpPr>
        <p:spPr>
          <a:xfrm>
            <a:off x="7793831" y="2035187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969" dirty="0">
                <a:solidFill>
                  <a:srgbClr val="4DAF7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969" dirty="0"/>
          </a:p>
        </p:txBody>
      </p:sp>
      <p:sp>
        <p:nvSpPr>
          <p:cNvPr id="47" name="Text 45"/>
          <p:cNvSpPr/>
          <p:nvPr/>
        </p:nvSpPr>
        <p:spPr>
          <a:xfrm>
            <a:off x="7265194" y="2335225"/>
            <a:ext cx="1257300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125"/>
              </a:lnSpc>
              <a:buNone/>
            </a:pPr>
            <a:r>
              <a:rPr lang="en-US" sz="900" dirty="0">
                <a:solidFill>
                  <a:srgbClr val="1E3A5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Capture Login Request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7265194" y="2549537"/>
            <a:ext cx="1295019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13"/>
              </a:lnSpc>
              <a:buNone/>
            </a:pPr>
            <a:r>
              <a:rPr lang="en-US" sz="800" dirty="0">
                <a:solidFill>
                  <a:srgbClr val="3A54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DVWA login POST at /dvwa/login.php captured in cleartext body — username + password visible. Session cookie returned on forward. Setup chain confirmed.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7265194" y="3924709"/>
            <a:ext cx="1257300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844"/>
              </a:lnSpc>
              <a:buNone/>
            </a:pPr>
            <a:r>
              <a:rPr lang="en-US" sz="800" kern="0" spc="34" dirty="0">
                <a:solidFill>
                  <a:srgbClr val="2E78B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COMPLETED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457200" y="4868466"/>
            <a:ext cx="795289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25" dirty="0">
                <a:solidFill>
                  <a:srgbClr val="6B829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Week 7 VAPT · DG Interns Hub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8424379" y="4868466"/>
            <a:ext cx="36501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kern="0" spc="25" dirty="0">
                <a:solidFill>
                  <a:srgbClr val="6B829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 / 10</a:t>
            </a:r>
            <a:endParaRPr lang="en-US" sz="619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A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7194"/>
            <a:ext cx="2636713" cy="175022"/>
          </a:xfrm>
          <a:prstGeom prst="roundRect">
            <a:avLst>
              <a:gd name="adj" fmla="val 5436731"/>
            </a:avLst>
          </a:prstGeom>
          <a:solidFill>
            <a:srgbClr val="C9E4F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407194"/>
            <a:ext cx="2636713" cy="244394"/>
          </a:xfrm>
          <a:prstGeom prst="rect">
            <a:avLst/>
          </a:prstGeom>
          <a:noFill/>
          <a:ln/>
        </p:spPr>
        <p:txBody>
          <a:bodyPr wrap="square" lIns="71438" tIns="28575" rIns="71438" bIns="28575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kern="0" spc="37" dirty="0">
                <a:solidFill>
                  <a:srgbClr val="2E78B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04 · TASK 24 · VULNERABILITY TESTING — SQL INJECTION</a:t>
            </a:r>
            <a:endParaRPr lang="en-US" sz="619" dirty="0"/>
          </a:p>
        </p:txBody>
      </p:sp>
      <p:sp>
        <p:nvSpPr>
          <p:cNvPr id="4" name="Text 2"/>
          <p:cNvSpPr/>
          <p:nvPr/>
        </p:nvSpPr>
        <p:spPr>
          <a:xfrm>
            <a:off x="457200" y="682228"/>
            <a:ext cx="8636000" cy="3193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29"/>
              </a:lnSpc>
              <a:buNone/>
            </a:pPr>
            <a:r>
              <a:rPr lang="en-US" sz="2025" dirty="0">
                <a:solidFill>
                  <a:srgbClr val="1E3A5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When input becomes query</a:t>
            </a:r>
            <a:endParaRPr lang="en-US" sz="2025" dirty="0"/>
          </a:p>
        </p:txBody>
      </p:sp>
      <p:sp>
        <p:nvSpPr>
          <p:cNvPr id="5" name="Text 3"/>
          <p:cNvSpPr/>
          <p:nvPr/>
        </p:nvSpPr>
        <p:spPr>
          <a:xfrm>
            <a:off x="457200" y="1049350"/>
            <a:ext cx="7000875" cy="179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8"/>
              </a:lnSpc>
              <a:buNone/>
            </a:pPr>
            <a:r>
              <a:rPr lang="en-US" sz="844" dirty="0">
                <a:solidFill>
                  <a:srgbClr val="3A54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An unfiltered login field lets the whole authentication check be bypassed, then the rest of the database read at will.</a:t>
            </a:r>
            <a:endParaRPr lang="en-US" sz="844" dirty="0"/>
          </a:p>
        </p:txBody>
      </p:sp>
      <p:sp>
        <p:nvSpPr>
          <p:cNvPr id="6" name="Text 4"/>
          <p:cNvSpPr/>
          <p:nvPr/>
        </p:nvSpPr>
        <p:spPr>
          <a:xfrm>
            <a:off x="460772" y="1376176"/>
            <a:ext cx="4507706" cy="2192238"/>
          </a:xfrm>
          <a:prstGeom prst="roundRect">
            <a:avLst>
              <a:gd name="adj" fmla="val 6083"/>
            </a:avLst>
          </a:prstGeom>
          <a:solidFill>
            <a:srgbClr val="0F2238"/>
          </a:solidFill>
          <a:ln w="7144">
            <a:solidFill>
              <a:srgbClr val="1F3A5C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21506" y="1508336"/>
            <a:ext cx="4186238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37" dirty="0">
                <a:solidFill>
                  <a:srgbClr val="8AB5D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CAPTURED REQUEST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21506" y="2468724"/>
            <a:ext cx="4186238" cy="7144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21506" y="2575880"/>
            <a:ext cx="4295966" cy="147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37" dirty="0">
                <a:solidFill>
                  <a:srgbClr val="8AB5D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INJECTED PAYLOAD — SENT TO REPEATER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60772" y="3661283"/>
            <a:ext cx="4507706" cy="540023"/>
          </a:xfrm>
          <a:prstGeom prst="roundRect">
            <a:avLst>
              <a:gd name="adj" fmla="val 17638"/>
            </a:avLst>
          </a:prstGeom>
          <a:solidFill>
            <a:srgbClr val="DCEEFB"/>
          </a:solidFill>
          <a:ln w="7144">
            <a:solidFill>
              <a:srgbClr val="D6E8F5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64356" y="3736293"/>
            <a:ext cx="4300538" cy="1190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37" dirty="0">
                <a:solidFill>
                  <a:srgbClr val="6B829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STEPS TO REPRODUCE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64356" y="3882740"/>
            <a:ext cx="4300538" cy="243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59"/>
              </a:lnSpc>
              <a:buNone/>
            </a:pPr>
            <a:r>
              <a:rPr lang="en-US" sz="800" dirty="0">
                <a:solidFill>
                  <a:srgbClr val="3A54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1. Set DVWA security to low. 2. Submit login form — Burp intercepts the POST. 3. Send to Repeater (Ctrl+R). 4. Replace username value with payload. 5. Send — response 302 redirect, Set-Cookie = authenticated session.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147072" y="1376176"/>
            <a:ext cx="3536156" cy="878123"/>
          </a:xfrm>
          <a:prstGeom prst="roundRect">
            <a:avLst>
              <a:gd name="adj" fmla="val 19525"/>
            </a:avLst>
          </a:prstGeom>
          <a:solidFill>
            <a:srgbClr val="FFFFFF"/>
          </a:solidFill>
          <a:ln w="7144">
            <a:solidFill>
              <a:srgbClr val="D6E8F5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279231" y="1479761"/>
            <a:ext cx="2360786" cy="196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34"/>
              </a:lnSpc>
              <a:buNone/>
            </a:pPr>
            <a:r>
              <a:rPr lang="en-US" sz="956" dirty="0">
                <a:solidFill>
                  <a:srgbClr val="1E3A5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Authentication Bypass</a:t>
            </a:r>
            <a:endParaRPr lang="en-US" sz="956" dirty="0"/>
          </a:p>
        </p:txBody>
      </p:sp>
      <p:sp>
        <p:nvSpPr>
          <p:cNvPr id="15" name="Text 13"/>
          <p:cNvSpPr/>
          <p:nvPr/>
        </p:nvSpPr>
        <p:spPr>
          <a:xfrm>
            <a:off x="7631445" y="1478832"/>
            <a:ext cx="942484" cy="184023"/>
          </a:xfrm>
          <a:prstGeom prst="roundRect">
            <a:avLst>
              <a:gd name="adj" fmla="val 5170807"/>
            </a:avLst>
          </a:prstGeom>
          <a:solidFill>
            <a:srgbClr val="D96666">
              <a:alpha val="16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654305" y="1488691"/>
            <a:ext cx="896764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844"/>
              </a:lnSpc>
              <a:buNone/>
            </a:pPr>
            <a:r>
              <a:rPr lang="en-US" sz="800" kern="0" spc="23" dirty="0">
                <a:solidFill>
                  <a:srgbClr val="A037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CRITICAL SEVERITY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279231" y="1719076"/>
            <a:ext cx="3271838" cy="4316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33"/>
              </a:lnSpc>
              <a:buNone/>
            </a:pPr>
            <a:r>
              <a:rPr lang="en-US" sz="800" dirty="0">
                <a:solidFill>
                  <a:srgbClr val="3A54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user input is concatenated directly into the SQL auth query. The payload closes the string and comments out the password check, or forces a tautology that always returns true. Login is granted without valid credentials.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147072" y="2347168"/>
            <a:ext cx="3536156" cy="1079153"/>
          </a:xfrm>
          <a:prstGeom prst="roundRect">
            <a:avLst>
              <a:gd name="adj" fmla="val 15887"/>
            </a:avLst>
          </a:prstGeom>
          <a:solidFill>
            <a:srgbClr val="FFFFFF"/>
          </a:solidFill>
          <a:ln w="7144">
            <a:solidFill>
              <a:srgbClr val="D6E8F5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279231" y="2450753"/>
            <a:ext cx="3271837" cy="196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34"/>
              </a:lnSpc>
              <a:buNone/>
            </a:pPr>
            <a:r>
              <a:rPr lang="en-US" sz="956" dirty="0">
                <a:solidFill>
                  <a:srgbClr val="1E3A5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Real-World Impact</a:t>
            </a:r>
            <a:endParaRPr lang="en-US" sz="956" dirty="0"/>
          </a:p>
        </p:txBody>
      </p:sp>
      <p:sp>
        <p:nvSpPr>
          <p:cNvPr id="20" name="Text 18"/>
          <p:cNvSpPr/>
          <p:nvPr/>
        </p:nvSpPr>
        <p:spPr>
          <a:xfrm>
            <a:off x="5279231" y="2690068"/>
            <a:ext cx="3271838" cy="6992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133"/>
              </a:lnSpc>
              <a:spcAft>
                <a:spcPts val="225"/>
              </a:spcAft>
              <a:buSzPct val="100000"/>
              <a:buChar char="•"/>
            </a:pPr>
            <a:endParaRPr lang="en-US" sz="800" dirty="0"/>
          </a:p>
          <a:p>
            <a:pPr marL="0" indent="0" algn="l">
              <a:lnSpc>
                <a:spcPts val="1133"/>
              </a:lnSpc>
              <a:spcAft>
                <a:spcPts val="225"/>
              </a:spcAft>
              <a:buNone/>
            </a:pPr>
            <a:r>
              <a:rPr lang="en-US" sz="800" dirty="0">
                <a:solidFill>
                  <a:srgbClr val="3A54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Full authentication bypass on any login form with the same flaw</a:t>
            </a:r>
            <a:endParaRPr lang="en-US" sz="800" dirty="0"/>
          </a:p>
          <a:p>
            <a:pPr marL="342900" indent="-342900" algn="l">
              <a:lnSpc>
                <a:spcPts val="1133"/>
              </a:lnSpc>
              <a:spcAft>
                <a:spcPts val="225"/>
              </a:spcAft>
              <a:buSzPct val="100000"/>
              <a:buChar char="•"/>
            </a:pPr>
            <a:endParaRPr lang="en-US" sz="800" dirty="0"/>
          </a:p>
          <a:p>
            <a:pPr marL="0" indent="0" algn="l">
              <a:lnSpc>
                <a:spcPts val="1133"/>
              </a:lnSpc>
              <a:spcAft>
                <a:spcPts val="225"/>
              </a:spcAft>
              <a:buNone/>
            </a:pPr>
            <a:r>
              <a:rPr lang="en-US" sz="800" dirty="0">
                <a:solidFill>
                  <a:srgbClr val="3A54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UNION SELECT attacks extract the entire users table — credentials, PII, sessions</a:t>
            </a:r>
            <a:endParaRPr lang="en-US" sz="800" dirty="0"/>
          </a:p>
          <a:p>
            <a:pPr marL="342900" indent="-342900" algn="l">
              <a:lnSpc>
                <a:spcPts val="1133"/>
              </a:lnSpc>
              <a:spcAft>
                <a:spcPts val="225"/>
              </a:spcAft>
              <a:buSzPct val="100000"/>
              <a:buChar char="•"/>
            </a:pPr>
            <a:endParaRPr lang="en-US" sz="800" dirty="0"/>
          </a:p>
          <a:p>
            <a:pPr marL="0" indent="0" algn="l">
              <a:lnSpc>
                <a:spcPts val="1133"/>
              </a:lnSpc>
              <a:spcAft>
                <a:spcPts val="225"/>
              </a:spcAft>
              <a:buNone/>
            </a:pPr>
            <a:r>
              <a:rPr lang="en-US" sz="800" dirty="0">
                <a:solidFill>
                  <a:srgbClr val="3A54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Pivot to other databases on the same MariaDB instance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147072" y="3519190"/>
            <a:ext cx="3536156" cy="935273"/>
          </a:xfrm>
          <a:prstGeom prst="roundRect">
            <a:avLst>
              <a:gd name="adj" fmla="val 18332"/>
            </a:avLst>
          </a:prstGeom>
          <a:solidFill>
            <a:srgbClr val="FFFFFF"/>
          </a:solidFill>
          <a:ln w="7144">
            <a:solidFill>
              <a:srgbClr val="D6E8F5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279231" y="3622774"/>
            <a:ext cx="3271838" cy="196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34"/>
              </a:lnSpc>
              <a:buNone/>
            </a:pPr>
            <a:r>
              <a:rPr lang="en-US" sz="956" dirty="0">
                <a:solidFill>
                  <a:srgbClr val="2E78B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Remediation</a:t>
            </a:r>
            <a:endParaRPr lang="en-US" sz="956" dirty="0"/>
          </a:p>
        </p:txBody>
      </p:sp>
      <p:sp>
        <p:nvSpPr>
          <p:cNvPr id="23" name="Text 21"/>
          <p:cNvSpPr/>
          <p:nvPr/>
        </p:nvSpPr>
        <p:spPr>
          <a:xfrm>
            <a:off x="5279231" y="3862090"/>
            <a:ext cx="3271838" cy="5466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133"/>
              </a:lnSpc>
              <a:spcAft>
                <a:spcPts val="225"/>
              </a:spcAft>
              <a:buSzPct val="100000"/>
              <a:buChar char="•"/>
            </a:pPr>
            <a:endParaRPr lang="en-US" sz="800" dirty="0"/>
          </a:p>
          <a:p>
            <a:pPr marL="0" indent="0" algn="l">
              <a:lnSpc>
                <a:spcPts val="1133"/>
              </a:lnSpc>
              <a:spcAft>
                <a:spcPts val="225"/>
              </a:spcAft>
              <a:buNone/>
            </a:pPr>
            <a:r>
              <a:rPr lang="en-US" sz="800" dirty="0">
                <a:solidFill>
                  <a:srgbClr val="3A54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Parameterized queries / prepared statements — never string-concat SQL</a:t>
            </a:r>
            <a:endParaRPr lang="en-US" sz="800" dirty="0"/>
          </a:p>
          <a:p>
            <a:pPr marL="342900" indent="-342900" algn="l">
              <a:lnSpc>
                <a:spcPts val="1133"/>
              </a:lnSpc>
              <a:spcAft>
                <a:spcPts val="225"/>
              </a:spcAft>
              <a:buSzPct val="100000"/>
              <a:buChar char="•"/>
            </a:pPr>
            <a:endParaRPr lang="en-US" sz="800" dirty="0"/>
          </a:p>
          <a:p>
            <a:pPr marL="0" indent="0" algn="l">
              <a:lnSpc>
                <a:spcPts val="1133"/>
              </a:lnSpc>
              <a:spcAft>
                <a:spcPts val="225"/>
              </a:spcAft>
              <a:buNone/>
            </a:pPr>
            <a:r>
              <a:rPr lang="en-US" sz="800" dirty="0">
                <a:solidFill>
                  <a:srgbClr val="3A54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Input validation allow-lists on username field</a:t>
            </a:r>
            <a:endParaRPr lang="en-US" sz="800" dirty="0"/>
          </a:p>
          <a:p>
            <a:pPr marL="342900" indent="-342900" algn="l">
              <a:lnSpc>
                <a:spcPts val="1133"/>
              </a:lnSpc>
              <a:spcAft>
                <a:spcPts val="225"/>
              </a:spcAft>
              <a:buSzPct val="100000"/>
              <a:buChar char="•"/>
            </a:pPr>
            <a:endParaRPr lang="en-US" sz="800" dirty="0"/>
          </a:p>
          <a:p>
            <a:pPr marL="0" indent="0" algn="l">
              <a:lnSpc>
                <a:spcPts val="1133"/>
              </a:lnSpc>
              <a:spcAft>
                <a:spcPts val="225"/>
              </a:spcAft>
              <a:buNone/>
            </a:pPr>
            <a:r>
              <a:rPr lang="en-US" sz="800" dirty="0">
                <a:solidFill>
                  <a:srgbClr val="3A54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Least-privilege DB user — app account cannot read other schemas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57200" y="4868466"/>
            <a:ext cx="795289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25" dirty="0">
                <a:solidFill>
                  <a:srgbClr val="6B829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Week 7 VAPT · DG Interns Hub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424379" y="4868466"/>
            <a:ext cx="36501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kern="0" spc="25" dirty="0">
                <a:solidFill>
                  <a:srgbClr val="6B829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 / 10</a:t>
            </a:r>
            <a:endParaRPr lang="en-US" sz="619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A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7194"/>
            <a:ext cx="2145804" cy="175022"/>
          </a:xfrm>
          <a:prstGeom prst="roundRect">
            <a:avLst>
              <a:gd name="adj" fmla="val 5436731"/>
            </a:avLst>
          </a:prstGeom>
          <a:solidFill>
            <a:srgbClr val="C9E4F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407194"/>
            <a:ext cx="2145804" cy="244394"/>
          </a:xfrm>
          <a:prstGeom prst="rect">
            <a:avLst/>
          </a:prstGeom>
          <a:noFill/>
          <a:ln/>
        </p:spPr>
        <p:txBody>
          <a:bodyPr wrap="square" lIns="71438" tIns="28575" rIns="71438" bIns="28575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kern="0" spc="37" dirty="0">
                <a:solidFill>
                  <a:srgbClr val="2E78B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05 · TASK 24 · VULNERABILITY TESTING — XSS</a:t>
            </a:r>
            <a:endParaRPr lang="en-US" sz="619" dirty="0"/>
          </a:p>
        </p:txBody>
      </p:sp>
      <p:sp>
        <p:nvSpPr>
          <p:cNvPr id="4" name="Text 2"/>
          <p:cNvSpPr/>
          <p:nvPr/>
        </p:nvSpPr>
        <p:spPr>
          <a:xfrm>
            <a:off x="457200" y="682228"/>
            <a:ext cx="8636000" cy="3193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29"/>
              </a:lnSpc>
              <a:buNone/>
            </a:pPr>
            <a:r>
              <a:rPr lang="en-US" sz="2025" dirty="0">
                <a:solidFill>
                  <a:srgbClr val="1E3A5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Same bug, two flavors</a:t>
            </a:r>
            <a:endParaRPr lang="en-US" sz="2025" dirty="0"/>
          </a:p>
        </p:txBody>
      </p:sp>
      <p:sp>
        <p:nvSpPr>
          <p:cNvPr id="5" name="Text 3"/>
          <p:cNvSpPr/>
          <p:nvPr/>
        </p:nvSpPr>
        <p:spPr>
          <a:xfrm>
            <a:off x="457200" y="1049350"/>
            <a:ext cx="7000875" cy="179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8"/>
              </a:lnSpc>
              <a:buNone/>
            </a:pPr>
            <a:r>
              <a:rPr lang="en-US" sz="844" dirty="0">
                <a:solidFill>
                  <a:srgbClr val="3A54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Unvalidated input that lands in the response body — either as a one-shot reflection, or persisted in the database and fired on every page load.</a:t>
            </a:r>
            <a:endParaRPr lang="en-US" sz="844" dirty="0"/>
          </a:p>
        </p:txBody>
      </p:sp>
      <p:sp>
        <p:nvSpPr>
          <p:cNvPr id="6" name="Text 4"/>
          <p:cNvSpPr/>
          <p:nvPr/>
        </p:nvSpPr>
        <p:spPr>
          <a:xfrm>
            <a:off x="460772" y="1376176"/>
            <a:ext cx="4029075" cy="2359447"/>
          </a:xfrm>
          <a:prstGeom prst="roundRect">
            <a:avLst>
              <a:gd name="adj" fmla="val 7267"/>
            </a:avLst>
          </a:prstGeom>
          <a:solidFill>
            <a:srgbClr val="FFFFFF"/>
          </a:solidFill>
          <a:ln w="7144">
            <a:solidFill>
              <a:srgbClr val="D6E8F5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84359" y="1503835"/>
            <a:ext cx="777508" cy="184023"/>
          </a:xfrm>
          <a:prstGeom prst="roundRect">
            <a:avLst>
              <a:gd name="adj" fmla="val 5170807"/>
            </a:avLst>
          </a:prstGeom>
          <a:solidFill>
            <a:srgbClr val="E8A33D">
              <a:alpha val="2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92565" y="1513694"/>
            <a:ext cx="961095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844"/>
              </a:lnSpc>
              <a:buNone/>
            </a:pPr>
            <a:r>
              <a:rPr lang="en-US" sz="800" kern="0" spc="23" dirty="0">
                <a:solidFill>
                  <a:srgbClr val="8A561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HIGH SEVERITY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663650" y="1497835"/>
            <a:ext cx="702610" cy="196025"/>
          </a:xfrm>
          <a:prstGeom prst="roundRect">
            <a:avLst>
              <a:gd name="adj" fmla="val 4854215"/>
            </a:avLst>
          </a:prstGeom>
          <a:solidFill>
            <a:srgbClr val="C9E4F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662687" y="1508336"/>
            <a:ext cx="70453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kern="0" spc="37" dirty="0">
                <a:solidFill>
                  <a:srgbClr val="2E78B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REFLECTED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07219" y="1770869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969" dirty="0">
                <a:solidFill>
                  <a:srgbClr val="2E78B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⚡</a:t>
            </a:r>
            <a:endParaRPr lang="en-US" sz="1969" dirty="0"/>
          </a:p>
        </p:txBody>
      </p:sp>
      <p:sp>
        <p:nvSpPr>
          <p:cNvPr id="12" name="Text 10"/>
          <p:cNvSpPr/>
          <p:nvPr/>
        </p:nvSpPr>
        <p:spPr>
          <a:xfrm>
            <a:off x="878681" y="1769083"/>
            <a:ext cx="3464719" cy="219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3"/>
              </a:lnSpc>
              <a:buNone/>
            </a:pPr>
            <a:r>
              <a:rPr lang="en-US" sz="1069" dirty="0">
                <a:solidFill>
                  <a:srgbClr val="1E3A5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Reflected XSS</a:t>
            </a:r>
            <a:endParaRPr lang="en-US" sz="1069" dirty="0"/>
          </a:p>
        </p:txBody>
      </p:sp>
      <p:sp>
        <p:nvSpPr>
          <p:cNvPr id="13" name="Text 11"/>
          <p:cNvSpPr/>
          <p:nvPr/>
        </p:nvSpPr>
        <p:spPr>
          <a:xfrm>
            <a:off x="607219" y="2029830"/>
            <a:ext cx="3736181" cy="3399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33"/>
              </a:lnSpc>
              <a:buNone/>
            </a:pPr>
            <a:r>
              <a:rPr lang="en-US" sz="800" dirty="0">
                <a:solidFill>
                  <a:srgbClr val="3A54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Payload travels in the URL / query string, gets reflected into the response HTML without encoding, fires in the victim browser on visit.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07219" y="2860514"/>
            <a:ext cx="409158" cy="120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34" dirty="0">
                <a:solidFill>
                  <a:srgbClr val="2E78B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STEPS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94755" y="2853370"/>
            <a:ext cx="3406564" cy="119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dirty="0">
                <a:solidFill>
                  <a:srgbClr val="3A54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 submit form → intercept in Burp → send to Repeater → confirm &lt;script&gt; tag in response HTML</a:t>
            </a:r>
            <a:endParaRPr lang="en-US" sz="619" dirty="0"/>
          </a:p>
        </p:txBody>
      </p:sp>
      <p:sp>
        <p:nvSpPr>
          <p:cNvPr id="16" name="Text 14"/>
          <p:cNvSpPr/>
          <p:nvPr/>
        </p:nvSpPr>
        <p:spPr>
          <a:xfrm>
            <a:off x="607219" y="3046251"/>
            <a:ext cx="373618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675" dirty="0">
                <a:solidFill>
                  <a:srgbClr val="2E78B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Cookie theft, session hijack, credential phishing via DOM redirects.</a:t>
            </a:r>
            <a:endParaRPr lang="en-US" sz="675" dirty="0"/>
          </a:p>
        </p:txBody>
      </p:sp>
      <p:sp>
        <p:nvSpPr>
          <p:cNvPr id="17" name="Text 15"/>
          <p:cNvSpPr/>
          <p:nvPr/>
        </p:nvSpPr>
        <p:spPr>
          <a:xfrm>
            <a:off x="4654153" y="1376176"/>
            <a:ext cx="4029075" cy="2359447"/>
          </a:xfrm>
          <a:prstGeom prst="roundRect">
            <a:avLst>
              <a:gd name="adj" fmla="val 7267"/>
            </a:avLst>
          </a:prstGeom>
          <a:solidFill>
            <a:srgbClr val="FFFFFF"/>
          </a:solidFill>
          <a:ln w="7144">
            <a:solidFill>
              <a:srgbClr val="D6E8F5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777740" y="1503835"/>
            <a:ext cx="777508" cy="184023"/>
          </a:xfrm>
          <a:prstGeom prst="roundRect">
            <a:avLst>
              <a:gd name="adj" fmla="val 5170807"/>
            </a:avLst>
          </a:prstGeom>
          <a:solidFill>
            <a:srgbClr val="E8A33D">
              <a:alpha val="2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685946" y="1513694"/>
            <a:ext cx="961095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844"/>
              </a:lnSpc>
              <a:buNone/>
            </a:pPr>
            <a:r>
              <a:rPr lang="en-US" sz="800" kern="0" spc="23" dirty="0">
                <a:solidFill>
                  <a:srgbClr val="8A561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HIGH SEVERITY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8019618" y="1497835"/>
            <a:ext cx="537054" cy="196025"/>
          </a:xfrm>
          <a:prstGeom prst="roundRect">
            <a:avLst>
              <a:gd name="adj" fmla="val 4854215"/>
            </a:avLst>
          </a:prstGeom>
          <a:solidFill>
            <a:srgbClr val="C9E4F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8039509" y="1508336"/>
            <a:ext cx="49727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kern="0" spc="37" dirty="0">
                <a:solidFill>
                  <a:srgbClr val="2E78B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STORED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800600" y="1770869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969" dirty="0">
                <a:solidFill>
                  <a:srgbClr val="2E78B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969" dirty="0"/>
          </a:p>
        </p:txBody>
      </p:sp>
      <p:sp>
        <p:nvSpPr>
          <p:cNvPr id="23" name="Text 21"/>
          <p:cNvSpPr/>
          <p:nvPr/>
        </p:nvSpPr>
        <p:spPr>
          <a:xfrm>
            <a:off x="5072063" y="1769083"/>
            <a:ext cx="3464719" cy="219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3"/>
              </a:lnSpc>
              <a:buNone/>
            </a:pPr>
            <a:r>
              <a:rPr lang="en-US" sz="1069" dirty="0">
                <a:solidFill>
                  <a:srgbClr val="1E3A5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Stored XSS</a:t>
            </a:r>
            <a:endParaRPr lang="en-US" sz="1069" dirty="0"/>
          </a:p>
        </p:txBody>
      </p:sp>
      <p:sp>
        <p:nvSpPr>
          <p:cNvPr id="24" name="Text 22"/>
          <p:cNvSpPr/>
          <p:nvPr/>
        </p:nvSpPr>
        <p:spPr>
          <a:xfrm>
            <a:off x="4800600" y="2029830"/>
            <a:ext cx="3736181" cy="3399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33"/>
              </a:lnSpc>
              <a:buNone/>
            </a:pPr>
            <a:r>
              <a:rPr lang="en-US" sz="800" dirty="0">
                <a:solidFill>
                  <a:srgbClr val="3A54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Payload submitted through the guestbook comment field is persisted into MariaDB. Every visitor who loads the page executes the script in their own session.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800600" y="3117689"/>
            <a:ext cx="409158" cy="120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34" dirty="0">
                <a:solidFill>
                  <a:srgbClr val="2E78B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STEPS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800600" y="3110545"/>
            <a:ext cx="3519636" cy="359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3A54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 submit guestbook form → intercept in Burp → send to Repeater → reload page → confirm payload executes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800600" y="3474876"/>
            <a:ext cx="3736181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dirty="0">
                <a:solidFill>
                  <a:srgbClr val="2E78B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Persistent, wider reach — wormable in admin panels.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60772" y="3871354"/>
            <a:ext cx="8222456" cy="457200"/>
          </a:xfrm>
          <a:prstGeom prst="roundRect">
            <a:avLst>
              <a:gd name="adj" fmla="val 37500"/>
            </a:avLst>
          </a:prstGeom>
          <a:solidFill>
            <a:srgbClr val="DCEEFB"/>
          </a:solidFill>
          <a:ln w="7144">
            <a:solidFill>
              <a:srgbClr val="D6E8F5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21506" y="4028517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6" dirty="0">
                <a:solidFill>
                  <a:srgbClr val="2E78B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406" dirty="0"/>
          </a:p>
        </p:txBody>
      </p:sp>
      <p:sp>
        <p:nvSpPr>
          <p:cNvPr id="30" name="Text 28"/>
          <p:cNvSpPr/>
          <p:nvPr/>
        </p:nvSpPr>
        <p:spPr>
          <a:xfrm>
            <a:off x="839785" y="4030303"/>
            <a:ext cx="82082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dirty="0">
                <a:solidFill>
                  <a:srgbClr val="1E3A5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Remediation —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575978" y="3960651"/>
            <a:ext cx="6946516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dirty="0">
                <a:solidFill>
                  <a:srgbClr val="3A54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Context-aware output encoding (HTML, JS, URL, attribute contexts each have different escape rules), Content-Security-Policy headers with no unsafe-inline, input sanitization libraries as defense-in-depth.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57200" y="4868466"/>
            <a:ext cx="795289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25" dirty="0">
                <a:solidFill>
                  <a:srgbClr val="6B829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Week 7 VAPT · DG Interns Hub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8424379" y="4868466"/>
            <a:ext cx="36501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kern="0" spc="25" dirty="0">
                <a:solidFill>
                  <a:srgbClr val="6B829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 / 10</a:t>
            </a:r>
            <a:endParaRPr lang="en-US" sz="619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A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7194"/>
            <a:ext cx="1916981" cy="175022"/>
          </a:xfrm>
          <a:prstGeom prst="roundRect">
            <a:avLst>
              <a:gd name="adj" fmla="val 5436731"/>
            </a:avLst>
          </a:prstGeom>
          <a:solidFill>
            <a:srgbClr val="C9E4F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407194"/>
            <a:ext cx="1916981" cy="233315"/>
          </a:xfrm>
          <a:prstGeom prst="rect">
            <a:avLst/>
          </a:prstGeom>
          <a:noFill/>
          <a:ln/>
        </p:spPr>
        <p:txBody>
          <a:bodyPr wrap="square" lIns="71438" tIns="28575" rIns="71438" bIns="28575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kern="0" spc="37" dirty="0">
                <a:solidFill>
                  <a:srgbClr val="2E78B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06 · TASK 24 + 25 · ADDITIONAL FINDINGS</a:t>
            </a:r>
            <a:endParaRPr lang="en-US" sz="619" dirty="0"/>
          </a:p>
        </p:txBody>
      </p:sp>
      <p:sp>
        <p:nvSpPr>
          <p:cNvPr id="4" name="Text 2"/>
          <p:cNvSpPr/>
          <p:nvPr/>
        </p:nvSpPr>
        <p:spPr>
          <a:xfrm>
            <a:off x="457200" y="667941"/>
            <a:ext cx="8636000" cy="2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dirty="0">
                <a:solidFill>
                  <a:srgbClr val="1E3A5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Three more findings + directory discovery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999344"/>
            <a:ext cx="70008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dirty="0">
                <a:solidFill>
                  <a:srgbClr val="3A54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Tasks 24 and 25 wrapped into one view — three more vulnerability classes from the OWASP Top 10, plus the directory and endpoint discovery run against the application root.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60772" y="1445828"/>
            <a:ext cx="4050506" cy="1589484"/>
          </a:xfrm>
          <a:prstGeom prst="roundRect">
            <a:avLst>
              <a:gd name="adj" fmla="val 10787"/>
            </a:avLst>
          </a:prstGeom>
          <a:solidFill>
            <a:srgbClr val="FFFFFF"/>
          </a:solidFill>
          <a:ln w="7144">
            <a:solidFill>
              <a:srgbClr val="D6E8F5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89904" y="1567200"/>
            <a:ext cx="467496" cy="168021"/>
          </a:xfrm>
          <a:prstGeom prst="roundRect">
            <a:avLst>
              <a:gd name="adj" fmla="val 22676"/>
            </a:avLst>
          </a:prstGeom>
          <a:solidFill>
            <a:srgbClr val="C9E4F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66096" y="1576201"/>
            <a:ext cx="515112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844"/>
              </a:lnSpc>
              <a:buNone/>
            </a:pPr>
            <a:r>
              <a:rPr lang="en-US" sz="800" kern="0" spc="34" dirty="0">
                <a:solidFill>
                  <a:srgbClr val="2E78B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TASK 24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962593" y="1553199"/>
            <a:ext cx="417708" cy="196025"/>
          </a:xfrm>
          <a:prstGeom prst="roundRect">
            <a:avLst>
              <a:gd name="adj" fmla="val 4854215"/>
            </a:avLst>
          </a:prstGeom>
          <a:solidFill>
            <a:srgbClr val="E8A33D">
              <a:alpha val="2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978064" y="1563700"/>
            <a:ext cx="38676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kern="0" spc="37" dirty="0">
                <a:solidFill>
                  <a:srgbClr val="8A561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HIGH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07219" y="1838734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88" dirty="0">
                <a:solidFill>
                  <a:srgbClr val="2E78B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◯</a:t>
            </a:r>
            <a:endParaRPr lang="en-US" sz="1688" dirty="0"/>
          </a:p>
        </p:txBody>
      </p:sp>
      <p:sp>
        <p:nvSpPr>
          <p:cNvPr id="12" name="Text 10"/>
          <p:cNvSpPr/>
          <p:nvPr/>
        </p:nvSpPr>
        <p:spPr>
          <a:xfrm>
            <a:off x="835819" y="1853022"/>
            <a:ext cx="3529013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900" dirty="0">
                <a:solidFill>
                  <a:srgbClr val="1E3A5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Weak Credentials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07219" y="2067334"/>
            <a:ext cx="375761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dirty="0">
                <a:solidFill>
                  <a:srgbClr val="3A54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Default DVWA creds admin / password accepted. No account lockout. No MFA. Brute-forcing was effectively free.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07219" y="2399519"/>
            <a:ext cx="3757613" cy="0"/>
          </a:xfrm>
          <a:prstGeom prst="line">
            <a:avLst/>
          </a:prstGeom>
          <a:noFill/>
          <a:ln w="7144">
            <a:solidFill>
              <a:srgbClr val="D6E8F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607219" y="2517391"/>
            <a:ext cx="653249" cy="1154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600" kern="0" spc="34" dirty="0">
                <a:solidFill>
                  <a:srgbClr val="2E78B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REMEDIATION</a:t>
            </a:r>
            <a:endParaRPr lang="en-US" sz="600" dirty="0"/>
          </a:p>
        </p:txBody>
      </p:sp>
      <p:sp>
        <p:nvSpPr>
          <p:cNvPr id="16" name="Text 14"/>
          <p:cNvSpPr/>
          <p:nvPr/>
        </p:nvSpPr>
        <p:spPr>
          <a:xfrm>
            <a:off x="607219" y="2660266"/>
            <a:ext cx="375761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dirty="0">
                <a:solidFill>
                  <a:srgbClr val="3A54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Strong password policy. Account lockout after N failed attempts. MFA on admin accounts. Rate-limit login endpoint.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632722" y="1445828"/>
            <a:ext cx="4050506" cy="1589484"/>
          </a:xfrm>
          <a:prstGeom prst="roundRect">
            <a:avLst>
              <a:gd name="adj" fmla="val 10787"/>
            </a:avLst>
          </a:prstGeom>
          <a:solidFill>
            <a:srgbClr val="FFFFFF"/>
          </a:solidFill>
          <a:ln w="7144">
            <a:solidFill>
              <a:srgbClr val="D6E8F5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761854" y="1567200"/>
            <a:ext cx="467496" cy="168021"/>
          </a:xfrm>
          <a:prstGeom prst="roundRect">
            <a:avLst>
              <a:gd name="adj" fmla="val 22676"/>
            </a:avLst>
          </a:prstGeom>
          <a:solidFill>
            <a:srgbClr val="C9E4F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738046" y="1576201"/>
            <a:ext cx="515112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844"/>
              </a:lnSpc>
              <a:buNone/>
            </a:pPr>
            <a:r>
              <a:rPr lang="en-US" sz="800" kern="0" spc="34" dirty="0">
                <a:solidFill>
                  <a:srgbClr val="2E78B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TASK 24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8134543" y="1553199"/>
            <a:ext cx="417708" cy="196025"/>
          </a:xfrm>
          <a:prstGeom prst="roundRect">
            <a:avLst>
              <a:gd name="adj" fmla="val 4854215"/>
            </a:avLst>
          </a:prstGeom>
          <a:solidFill>
            <a:srgbClr val="E8A33D">
              <a:alpha val="2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8150014" y="1563700"/>
            <a:ext cx="38676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kern="0" spc="37" dirty="0">
                <a:solidFill>
                  <a:srgbClr val="8A561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HIGH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779169" y="1838734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88" dirty="0">
                <a:solidFill>
                  <a:srgbClr val="2E78B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688" dirty="0"/>
          </a:p>
        </p:txBody>
      </p:sp>
      <p:sp>
        <p:nvSpPr>
          <p:cNvPr id="23" name="Text 21"/>
          <p:cNvSpPr/>
          <p:nvPr/>
        </p:nvSpPr>
        <p:spPr>
          <a:xfrm>
            <a:off x="5007769" y="1853022"/>
            <a:ext cx="3529013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900" dirty="0">
                <a:solidFill>
                  <a:srgbClr val="1E3A5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Insecure Direct Object Reference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779169" y="2067334"/>
            <a:ext cx="375761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dirty="0">
                <a:solidFill>
                  <a:srgbClr val="3A54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Changing ?id=1 to ?id=2 in the user profile URL returns another user's data — no re-auth, no server-side authorization check.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779169" y="2399519"/>
            <a:ext cx="3757613" cy="0"/>
          </a:xfrm>
          <a:prstGeom prst="line">
            <a:avLst/>
          </a:prstGeom>
          <a:noFill/>
          <a:ln w="7144">
            <a:solidFill>
              <a:srgbClr val="D6E8F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4779169" y="2517391"/>
            <a:ext cx="653249" cy="1154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600" kern="0" spc="34" dirty="0">
                <a:solidFill>
                  <a:srgbClr val="2E78B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REMEDIATION</a:t>
            </a:r>
            <a:endParaRPr lang="en-US" sz="600" dirty="0"/>
          </a:p>
        </p:txBody>
      </p:sp>
      <p:sp>
        <p:nvSpPr>
          <p:cNvPr id="27" name="Text 25"/>
          <p:cNvSpPr/>
          <p:nvPr/>
        </p:nvSpPr>
        <p:spPr>
          <a:xfrm>
            <a:off x="4779169" y="2660266"/>
            <a:ext cx="375761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dirty="0">
                <a:solidFill>
                  <a:srgbClr val="3A54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Server-side authz check per request. Indirect object references (session → object). Replace sequential IDs with UUIDs. Default-deny access control.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60772" y="3156756"/>
            <a:ext cx="4050506" cy="1589484"/>
          </a:xfrm>
          <a:prstGeom prst="roundRect">
            <a:avLst>
              <a:gd name="adj" fmla="val 10787"/>
            </a:avLst>
          </a:prstGeom>
          <a:solidFill>
            <a:srgbClr val="FFFFFF"/>
          </a:solidFill>
          <a:ln w="7144">
            <a:solidFill>
              <a:srgbClr val="D6E8F5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89904" y="3278128"/>
            <a:ext cx="467496" cy="168021"/>
          </a:xfrm>
          <a:prstGeom prst="roundRect">
            <a:avLst>
              <a:gd name="adj" fmla="val 22676"/>
            </a:avLst>
          </a:prstGeom>
          <a:solidFill>
            <a:srgbClr val="C9E4F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66096" y="3287130"/>
            <a:ext cx="515112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844"/>
              </a:lnSpc>
              <a:buNone/>
            </a:pPr>
            <a:r>
              <a:rPr lang="en-US" sz="800" kern="0" spc="34" dirty="0">
                <a:solidFill>
                  <a:srgbClr val="2E78B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TASK 24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825612" y="3264127"/>
            <a:ext cx="559958" cy="196025"/>
          </a:xfrm>
          <a:prstGeom prst="roundRect">
            <a:avLst>
              <a:gd name="adj" fmla="val 4854215"/>
            </a:avLst>
          </a:prstGeom>
          <a:solidFill>
            <a:srgbClr val="5DA9DD">
              <a:alpha val="2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3846351" y="3274628"/>
            <a:ext cx="51848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kern="0" spc="37" dirty="0">
                <a:solidFill>
                  <a:srgbClr val="2E78B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MEDIUM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07219" y="3549662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88" dirty="0">
                <a:solidFill>
                  <a:srgbClr val="2E78B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↻</a:t>
            </a:r>
            <a:endParaRPr lang="en-US" sz="1688" dirty="0"/>
          </a:p>
        </p:txBody>
      </p:sp>
      <p:sp>
        <p:nvSpPr>
          <p:cNvPr id="34" name="Text 32"/>
          <p:cNvSpPr/>
          <p:nvPr/>
        </p:nvSpPr>
        <p:spPr>
          <a:xfrm>
            <a:off x="835819" y="3563950"/>
            <a:ext cx="3529013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900" dirty="0">
                <a:solidFill>
                  <a:srgbClr val="1E3A5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CSRF + Brute Force (Intruder)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07219" y="3778262"/>
            <a:ext cx="375761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dirty="0">
                <a:solidFill>
                  <a:srgbClr val="3A54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 CSRF token on state-changing endpoints. Burp Intruder ran a wordlist against the password field — admin creds recovered in seconds.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07219" y="4110447"/>
            <a:ext cx="3757613" cy="0"/>
          </a:xfrm>
          <a:prstGeom prst="line">
            <a:avLst/>
          </a:prstGeom>
          <a:noFill/>
          <a:ln w="7144">
            <a:solidFill>
              <a:srgbClr val="D6E8F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Text 35"/>
          <p:cNvSpPr/>
          <p:nvPr/>
        </p:nvSpPr>
        <p:spPr>
          <a:xfrm>
            <a:off x="607219" y="4228319"/>
            <a:ext cx="653249" cy="1154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600" kern="0" spc="34" dirty="0">
                <a:solidFill>
                  <a:srgbClr val="2E78B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REMEDIATION</a:t>
            </a:r>
            <a:endParaRPr lang="en-US" sz="600" dirty="0"/>
          </a:p>
        </p:txBody>
      </p:sp>
      <p:sp>
        <p:nvSpPr>
          <p:cNvPr id="38" name="Text 36"/>
          <p:cNvSpPr/>
          <p:nvPr/>
        </p:nvSpPr>
        <p:spPr>
          <a:xfrm>
            <a:off x="607219" y="4371194"/>
            <a:ext cx="375761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dirty="0">
                <a:solidFill>
                  <a:srgbClr val="3A54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Anti-CSRF tokens validated server-side. SameSite=Strict cookies. Rate-limit + CAPTCHA on login. Long random session IDs.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632722" y="3156756"/>
            <a:ext cx="4050506" cy="1589484"/>
          </a:xfrm>
          <a:prstGeom prst="roundRect">
            <a:avLst>
              <a:gd name="adj" fmla="val 10787"/>
            </a:avLst>
          </a:prstGeom>
          <a:solidFill>
            <a:srgbClr val="FFFFFF"/>
          </a:solidFill>
          <a:ln w="7144">
            <a:solidFill>
              <a:srgbClr val="D6E8F5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4761854" y="3278128"/>
            <a:ext cx="467496" cy="168021"/>
          </a:xfrm>
          <a:prstGeom prst="roundRect">
            <a:avLst>
              <a:gd name="adj" fmla="val 22676"/>
            </a:avLst>
          </a:prstGeom>
          <a:solidFill>
            <a:srgbClr val="C9E4F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4738046" y="3287130"/>
            <a:ext cx="515112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844"/>
              </a:lnSpc>
              <a:buNone/>
            </a:pPr>
            <a:r>
              <a:rPr lang="en-US" sz="800" kern="0" spc="34" dirty="0">
                <a:solidFill>
                  <a:srgbClr val="2E78B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TASK 25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7997562" y="3264127"/>
            <a:ext cx="559958" cy="196025"/>
          </a:xfrm>
          <a:prstGeom prst="roundRect">
            <a:avLst>
              <a:gd name="adj" fmla="val 4854215"/>
            </a:avLst>
          </a:prstGeom>
          <a:solidFill>
            <a:srgbClr val="5DA9DD">
              <a:alpha val="2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8018301" y="3274628"/>
            <a:ext cx="51848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kern="0" spc="37" dirty="0">
                <a:solidFill>
                  <a:srgbClr val="2E78B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MEDIUM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779169" y="3549662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88" dirty="0">
                <a:solidFill>
                  <a:srgbClr val="2E78B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688" dirty="0"/>
          </a:p>
        </p:txBody>
      </p:sp>
      <p:sp>
        <p:nvSpPr>
          <p:cNvPr id="45" name="Text 43"/>
          <p:cNvSpPr/>
          <p:nvPr/>
        </p:nvSpPr>
        <p:spPr>
          <a:xfrm>
            <a:off x="5007769" y="3563950"/>
            <a:ext cx="3529013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900" dirty="0">
                <a:solidFill>
                  <a:srgbClr val="1E3A5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Directory &amp; Endpoint Discovery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779169" y="3778262"/>
            <a:ext cx="375761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dirty="0">
                <a:solidFill>
                  <a:srgbClr val="3A54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Dirsearch + Gobuster ran common-path wordlists against the application root. Hidden endpoints discovered — including /admin, /login, /api/, and backup files.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779169" y="4110447"/>
            <a:ext cx="3757613" cy="0"/>
          </a:xfrm>
          <a:prstGeom prst="line">
            <a:avLst/>
          </a:prstGeom>
          <a:noFill/>
          <a:ln w="7144">
            <a:solidFill>
              <a:srgbClr val="D6E8F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8" name="Text 46"/>
          <p:cNvSpPr/>
          <p:nvPr/>
        </p:nvSpPr>
        <p:spPr>
          <a:xfrm>
            <a:off x="4779169" y="4228319"/>
            <a:ext cx="653249" cy="1154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600" kern="0" spc="34" dirty="0">
                <a:solidFill>
                  <a:srgbClr val="2E78B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REMEDIATION</a:t>
            </a:r>
            <a:endParaRPr lang="en-US" sz="600" dirty="0"/>
          </a:p>
        </p:txBody>
      </p:sp>
      <p:sp>
        <p:nvSpPr>
          <p:cNvPr id="49" name="Text 47"/>
          <p:cNvSpPr/>
          <p:nvPr/>
        </p:nvSpPr>
        <p:spPr>
          <a:xfrm>
            <a:off x="4779169" y="4371194"/>
            <a:ext cx="375761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dirty="0">
                <a:solidFill>
                  <a:srgbClr val="3A54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Restrict /admin by IP whitelist. Remove backup files (.bak, .old) from web root. Disable directory listings. Enforce 404 on unknown paths.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457200" y="4868466"/>
            <a:ext cx="795289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25" dirty="0">
                <a:solidFill>
                  <a:srgbClr val="6B829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Week 7 VAPT · DG Interns Hub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8424379" y="4868466"/>
            <a:ext cx="36501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kern="0" spc="25" dirty="0">
                <a:solidFill>
                  <a:srgbClr val="6B829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 / 10</a:t>
            </a:r>
            <a:endParaRPr lang="en-US" sz="619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A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7194"/>
            <a:ext cx="1393924" cy="175022"/>
          </a:xfrm>
          <a:prstGeom prst="roundRect">
            <a:avLst>
              <a:gd name="adj" fmla="val 5436731"/>
            </a:avLst>
          </a:prstGeom>
          <a:solidFill>
            <a:srgbClr val="C9E4F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407194"/>
            <a:ext cx="1393924" cy="233315"/>
          </a:xfrm>
          <a:prstGeom prst="rect">
            <a:avLst/>
          </a:prstGeom>
          <a:noFill/>
          <a:ln/>
        </p:spPr>
        <p:txBody>
          <a:bodyPr wrap="none" lIns="71438" tIns="28575" rIns="71438" bIns="28575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kern="0" spc="37" dirty="0">
                <a:solidFill>
                  <a:srgbClr val="2E78B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07 · TASK 26 · VISUAL PROOF</a:t>
            </a:r>
            <a:endParaRPr lang="en-US" sz="619" dirty="0"/>
          </a:p>
        </p:txBody>
      </p:sp>
      <p:sp>
        <p:nvSpPr>
          <p:cNvPr id="4" name="Text 2"/>
          <p:cNvSpPr/>
          <p:nvPr/>
        </p:nvSpPr>
        <p:spPr>
          <a:xfrm>
            <a:off x="457200" y="667941"/>
            <a:ext cx="8636000" cy="2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dirty="0">
                <a:solidFill>
                  <a:srgbClr val="1E3A5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Evidence captured from the live engagement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999344"/>
            <a:ext cx="70008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dirty="0">
                <a:solidFill>
                  <a:srgbClr val="3A54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Six screenshots pulled directly from the Burp Suite session against DVWA — covering the three required Burp tools: Proxy (intercept + login captured + site map), Repeater (SQLi bypass + reflected XSS payload), and Intruder (brute force results).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60772" y="1431541"/>
            <a:ext cx="2669307" cy="1546622"/>
          </a:xfrm>
          <a:prstGeom prst="roundRect">
            <a:avLst>
              <a:gd name="adj" fmla="val 11085"/>
            </a:avLst>
          </a:prstGeom>
          <a:solidFill>
            <a:srgbClr val="FFFFFF"/>
          </a:solidFill>
          <a:ln w="7144">
            <a:solidFill>
              <a:srgbClr val="D6E8F5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7" name="Image 0" descr="/tmp/h2p-fit-1791316227952-nxbwt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494" y="1492262"/>
            <a:ext cx="2547863" cy="112871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50069" y="2655694"/>
            <a:ext cx="165199" cy="152019"/>
          </a:xfrm>
          <a:prstGeom prst="roundRect">
            <a:avLst>
              <a:gd name="adj" fmla="val 25063"/>
            </a:avLst>
          </a:prstGeom>
          <a:solidFill>
            <a:srgbClr val="C9E4F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540558" y="2663837"/>
            <a:ext cx="18422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844"/>
              </a:lnSpc>
              <a:buNone/>
            </a:pPr>
            <a:r>
              <a:rPr lang="en-US" sz="800" b="1" dirty="0">
                <a:solidFill>
                  <a:srgbClr val="2E78B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772418" y="2676004"/>
            <a:ext cx="2268364" cy="1425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77"/>
              </a:lnSpc>
              <a:buNone/>
            </a:pPr>
            <a:r>
              <a:rPr lang="en-US" sz="800" dirty="0">
                <a:solidFill>
                  <a:srgbClr val="1E3A5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Burp Intercept Enabled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550069" y="2821000"/>
            <a:ext cx="2519288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9"/>
              </a:lnSpc>
              <a:buNone/>
            </a:pPr>
            <a:r>
              <a:rPr lang="en-US" sz="800" kern="0" spc="30" dirty="0">
                <a:solidFill>
                  <a:srgbClr val="2E78B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PROXY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3237235" y="1431541"/>
            <a:ext cx="2669418" cy="1546622"/>
          </a:xfrm>
          <a:prstGeom prst="roundRect">
            <a:avLst>
              <a:gd name="adj" fmla="val 11085"/>
            </a:avLst>
          </a:prstGeom>
          <a:solidFill>
            <a:srgbClr val="FFFFFF"/>
          </a:solidFill>
          <a:ln w="7144">
            <a:solidFill>
              <a:srgbClr val="D6E8F5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3" name="Image 1" descr="/tmp/h2p-fit-1791316228243-iewlc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7957" y="1492262"/>
            <a:ext cx="2547975" cy="112871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326532" y="2655694"/>
            <a:ext cx="165199" cy="152019"/>
          </a:xfrm>
          <a:prstGeom prst="roundRect">
            <a:avLst>
              <a:gd name="adj" fmla="val 25063"/>
            </a:avLst>
          </a:prstGeom>
          <a:solidFill>
            <a:srgbClr val="C9E4F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3317021" y="2663837"/>
            <a:ext cx="18422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844"/>
              </a:lnSpc>
              <a:buNone/>
            </a:pPr>
            <a:r>
              <a:rPr lang="en-US" sz="800" b="1" dirty="0">
                <a:solidFill>
                  <a:srgbClr val="2E78B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3548881" y="2676004"/>
            <a:ext cx="2268475" cy="1425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77"/>
              </a:lnSpc>
              <a:buNone/>
            </a:pPr>
            <a:r>
              <a:rPr lang="en-US" sz="800" dirty="0">
                <a:solidFill>
                  <a:srgbClr val="1E3A5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DVWA Login Captured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3326532" y="2821000"/>
            <a:ext cx="2519400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9"/>
              </a:lnSpc>
              <a:buNone/>
            </a:pPr>
            <a:r>
              <a:rPr lang="en-US" sz="800" kern="0" spc="30" dirty="0">
                <a:solidFill>
                  <a:srgbClr val="2E78B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PROXY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6013810" y="1431541"/>
            <a:ext cx="2669307" cy="1546622"/>
          </a:xfrm>
          <a:prstGeom prst="roundRect">
            <a:avLst>
              <a:gd name="adj" fmla="val 11085"/>
            </a:avLst>
          </a:prstGeom>
          <a:solidFill>
            <a:srgbClr val="FFFFFF"/>
          </a:solidFill>
          <a:ln w="7144">
            <a:solidFill>
              <a:srgbClr val="D6E8F5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9" name="Image 2" descr="/tmp/h2p-fit-1791316227817-tsjvs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74532" y="1492262"/>
            <a:ext cx="2547863" cy="1128713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103107" y="2655694"/>
            <a:ext cx="165199" cy="152019"/>
          </a:xfrm>
          <a:prstGeom prst="roundRect">
            <a:avLst>
              <a:gd name="adj" fmla="val 25063"/>
            </a:avLst>
          </a:prstGeom>
          <a:solidFill>
            <a:srgbClr val="C9E4F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6"/>
          <p:cNvSpPr/>
          <p:nvPr/>
        </p:nvSpPr>
        <p:spPr>
          <a:xfrm>
            <a:off x="6093596" y="2663837"/>
            <a:ext cx="18422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844"/>
              </a:lnSpc>
              <a:buNone/>
            </a:pPr>
            <a:r>
              <a:rPr lang="en-US" sz="800" b="1" dirty="0">
                <a:solidFill>
                  <a:srgbClr val="2E78B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2" name="Text 17"/>
          <p:cNvSpPr/>
          <p:nvPr/>
        </p:nvSpPr>
        <p:spPr>
          <a:xfrm>
            <a:off x="6325456" y="2676004"/>
            <a:ext cx="2268364" cy="1425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77"/>
              </a:lnSpc>
              <a:buNone/>
            </a:pPr>
            <a:r>
              <a:rPr lang="en-US" sz="800" dirty="0">
                <a:solidFill>
                  <a:srgbClr val="1E3A5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DVWA Target Site Map</a:t>
            </a:r>
            <a:endParaRPr lang="en-US" sz="800" dirty="0"/>
          </a:p>
        </p:txBody>
      </p:sp>
      <p:sp>
        <p:nvSpPr>
          <p:cNvPr id="23" name="Text 18"/>
          <p:cNvSpPr/>
          <p:nvPr/>
        </p:nvSpPr>
        <p:spPr>
          <a:xfrm>
            <a:off x="6103107" y="2821000"/>
            <a:ext cx="2519288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9"/>
              </a:lnSpc>
              <a:buNone/>
            </a:pPr>
            <a:r>
              <a:rPr lang="en-US" sz="800" kern="0" spc="30" dirty="0">
                <a:solidFill>
                  <a:srgbClr val="2E78B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TARGET TAB</a:t>
            </a:r>
            <a:endParaRPr lang="en-US" sz="800" dirty="0"/>
          </a:p>
        </p:txBody>
      </p:sp>
      <p:sp>
        <p:nvSpPr>
          <p:cNvPr id="24" name="Text 19"/>
          <p:cNvSpPr/>
          <p:nvPr/>
        </p:nvSpPr>
        <p:spPr>
          <a:xfrm>
            <a:off x="460772" y="3085319"/>
            <a:ext cx="2669307" cy="1546622"/>
          </a:xfrm>
          <a:prstGeom prst="roundRect">
            <a:avLst>
              <a:gd name="adj" fmla="val 11085"/>
            </a:avLst>
          </a:prstGeom>
          <a:solidFill>
            <a:srgbClr val="FFFFFF"/>
          </a:solidFill>
          <a:ln w="7144">
            <a:solidFill>
              <a:srgbClr val="D6E8F5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5" name="Image 3" descr="/tmp/h2p-fit-1791316228052-xeryh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1494" y="3146041"/>
            <a:ext cx="2547863" cy="1128713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50069" y="4309472"/>
            <a:ext cx="165199" cy="152019"/>
          </a:xfrm>
          <a:prstGeom prst="roundRect">
            <a:avLst>
              <a:gd name="adj" fmla="val 25063"/>
            </a:avLst>
          </a:prstGeom>
          <a:solidFill>
            <a:srgbClr val="C9E4F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1"/>
          <p:cNvSpPr/>
          <p:nvPr/>
        </p:nvSpPr>
        <p:spPr>
          <a:xfrm>
            <a:off x="540558" y="4317616"/>
            <a:ext cx="18422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844"/>
              </a:lnSpc>
              <a:buNone/>
            </a:pPr>
            <a:r>
              <a:rPr lang="en-US" sz="800" b="1" dirty="0">
                <a:solidFill>
                  <a:srgbClr val="2E78B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28" name="Text 22"/>
          <p:cNvSpPr/>
          <p:nvPr/>
        </p:nvSpPr>
        <p:spPr>
          <a:xfrm>
            <a:off x="772418" y="4329782"/>
            <a:ext cx="2268364" cy="1425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77"/>
              </a:lnSpc>
              <a:buNone/>
            </a:pPr>
            <a:r>
              <a:rPr lang="en-US" sz="800" dirty="0">
                <a:solidFill>
                  <a:srgbClr val="1E3A5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SQL Injection Bypass — users dumped</a:t>
            </a:r>
            <a:endParaRPr lang="en-US" sz="800" dirty="0"/>
          </a:p>
        </p:txBody>
      </p:sp>
      <p:sp>
        <p:nvSpPr>
          <p:cNvPr id="29" name="Text 23"/>
          <p:cNvSpPr/>
          <p:nvPr/>
        </p:nvSpPr>
        <p:spPr>
          <a:xfrm>
            <a:off x="550069" y="4474778"/>
            <a:ext cx="2519288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9"/>
              </a:lnSpc>
              <a:buNone/>
            </a:pPr>
            <a:r>
              <a:rPr lang="en-US" sz="800" kern="0" spc="30" dirty="0">
                <a:solidFill>
                  <a:srgbClr val="2E78B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REPEATER</a:t>
            </a:r>
            <a:endParaRPr lang="en-US" sz="800" dirty="0"/>
          </a:p>
        </p:txBody>
      </p:sp>
      <p:sp>
        <p:nvSpPr>
          <p:cNvPr id="30" name="Text 24"/>
          <p:cNvSpPr/>
          <p:nvPr/>
        </p:nvSpPr>
        <p:spPr>
          <a:xfrm>
            <a:off x="3237235" y="3085319"/>
            <a:ext cx="2669418" cy="1546622"/>
          </a:xfrm>
          <a:prstGeom prst="roundRect">
            <a:avLst>
              <a:gd name="adj" fmla="val 11085"/>
            </a:avLst>
          </a:prstGeom>
          <a:solidFill>
            <a:srgbClr val="FFFFFF"/>
          </a:solidFill>
          <a:ln w="7144">
            <a:solidFill>
              <a:srgbClr val="D6E8F5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1" name="Image 4" descr="/tmp/h2p-fit-1791316227848-szz1t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97957" y="3146041"/>
            <a:ext cx="2547975" cy="1128713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3326532" y="4309472"/>
            <a:ext cx="165199" cy="152019"/>
          </a:xfrm>
          <a:prstGeom prst="roundRect">
            <a:avLst>
              <a:gd name="adj" fmla="val 25063"/>
            </a:avLst>
          </a:prstGeom>
          <a:solidFill>
            <a:srgbClr val="C9E4F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26"/>
          <p:cNvSpPr/>
          <p:nvPr/>
        </p:nvSpPr>
        <p:spPr>
          <a:xfrm>
            <a:off x="3317021" y="4317616"/>
            <a:ext cx="18422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844"/>
              </a:lnSpc>
              <a:buNone/>
            </a:pPr>
            <a:r>
              <a:rPr lang="en-US" sz="800" b="1" dirty="0">
                <a:solidFill>
                  <a:srgbClr val="2E78B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34" name="Text 27"/>
          <p:cNvSpPr/>
          <p:nvPr/>
        </p:nvSpPr>
        <p:spPr>
          <a:xfrm>
            <a:off x="3548881" y="4329782"/>
            <a:ext cx="2268475" cy="1425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77"/>
              </a:lnSpc>
              <a:buNone/>
            </a:pPr>
            <a:r>
              <a:rPr lang="en-US" sz="800" dirty="0">
                <a:solidFill>
                  <a:srgbClr val="1E3A5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Reflected XSS Payload in Burp</a:t>
            </a:r>
            <a:endParaRPr lang="en-US" sz="800" dirty="0"/>
          </a:p>
        </p:txBody>
      </p:sp>
      <p:sp>
        <p:nvSpPr>
          <p:cNvPr id="35" name="Text 28"/>
          <p:cNvSpPr/>
          <p:nvPr/>
        </p:nvSpPr>
        <p:spPr>
          <a:xfrm>
            <a:off x="3326532" y="4474778"/>
            <a:ext cx="2519400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9"/>
              </a:lnSpc>
              <a:buNone/>
            </a:pPr>
            <a:r>
              <a:rPr lang="en-US" sz="800" kern="0" spc="30" dirty="0">
                <a:solidFill>
                  <a:srgbClr val="2E78B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REPEATER</a:t>
            </a:r>
            <a:endParaRPr lang="en-US" sz="800" dirty="0"/>
          </a:p>
        </p:txBody>
      </p:sp>
      <p:sp>
        <p:nvSpPr>
          <p:cNvPr id="36" name="Text 29"/>
          <p:cNvSpPr/>
          <p:nvPr/>
        </p:nvSpPr>
        <p:spPr>
          <a:xfrm>
            <a:off x="6013810" y="3085319"/>
            <a:ext cx="2669307" cy="1546622"/>
          </a:xfrm>
          <a:prstGeom prst="roundRect">
            <a:avLst>
              <a:gd name="adj" fmla="val 11085"/>
            </a:avLst>
          </a:prstGeom>
          <a:solidFill>
            <a:srgbClr val="FFFFFF"/>
          </a:solidFill>
          <a:ln w="7144">
            <a:solidFill>
              <a:srgbClr val="D6E8F5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7" name="Image 5" descr="/tmp/h2p-fit-1791316227897-k4xjd8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74532" y="3146041"/>
            <a:ext cx="2547863" cy="1128713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6103107" y="4309472"/>
            <a:ext cx="165199" cy="152019"/>
          </a:xfrm>
          <a:prstGeom prst="roundRect">
            <a:avLst>
              <a:gd name="adj" fmla="val 25063"/>
            </a:avLst>
          </a:prstGeom>
          <a:solidFill>
            <a:srgbClr val="C9E4F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1"/>
          <p:cNvSpPr/>
          <p:nvPr/>
        </p:nvSpPr>
        <p:spPr>
          <a:xfrm>
            <a:off x="6093596" y="4317616"/>
            <a:ext cx="18422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844"/>
              </a:lnSpc>
              <a:buNone/>
            </a:pPr>
            <a:r>
              <a:rPr lang="en-US" sz="800" b="1" dirty="0">
                <a:solidFill>
                  <a:srgbClr val="2E78B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</a:t>
            </a:r>
            <a:endParaRPr lang="en-US" sz="800" dirty="0"/>
          </a:p>
        </p:txBody>
      </p:sp>
      <p:sp>
        <p:nvSpPr>
          <p:cNvPr id="40" name="Text 32"/>
          <p:cNvSpPr/>
          <p:nvPr/>
        </p:nvSpPr>
        <p:spPr>
          <a:xfrm>
            <a:off x="6325456" y="4329782"/>
            <a:ext cx="2268364" cy="1425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77"/>
              </a:lnSpc>
              <a:buNone/>
            </a:pPr>
            <a:r>
              <a:rPr lang="en-US" sz="800" dirty="0">
                <a:solidFill>
                  <a:srgbClr val="1E3A5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Brute Force Results</a:t>
            </a:r>
            <a:endParaRPr lang="en-US" sz="800" dirty="0"/>
          </a:p>
        </p:txBody>
      </p:sp>
      <p:sp>
        <p:nvSpPr>
          <p:cNvPr id="41" name="Text 33"/>
          <p:cNvSpPr/>
          <p:nvPr/>
        </p:nvSpPr>
        <p:spPr>
          <a:xfrm>
            <a:off x="6103107" y="4474778"/>
            <a:ext cx="2519288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9"/>
              </a:lnSpc>
              <a:buNone/>
            </a:pPr>
            <a:r>
              <a:rPr lang="en-US" sz="800" kern="0" spc="30" dirty="0">
                <a:solidFill>
                  <a:srgbClr val="2E78B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INTRUDER</a:t>
            </a:r>
            <a:endParaRPr lang="en-US" sz="800" dirty="0"/>
          </a:p>
        </p:txBody>
      </p:sp>
      <p:sp>
        <p:nvSpPr>
          <p:cNvPr id="42" name="Text 34"/>
          <p:cNvSpPr/>
          <p:nvPr/>
        </p:nvSpPr>
        <p:spPr>
          <a:xfrm>
            <a:off x="457200" y="4868466"/>
            <a:ext cx="795289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25" dirty="0">
                <a:solidFill>
                  <a:srgbClr val="6B829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Week 7 VAPT · DG Interns Hub</a:t>
            </a:r>
            <a:endParaRPr lang="en-US" sz="800" dirty="0"/>
          </a:p>
        </p:txBody>
      </p:sp>
      <p:sp>
        <p:nvSpPr>
          <p:cNvPr id="43" name="Text 35"/>
          <p:cNvSpPr/>
          <p:nvPr/>
        </p:nvSpPr>
        <p:spPr>
          <a:xfrm>
            <a:off x="8424379" y="4868466"/>
            <a:ext cx="36501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kern="0" spc="25" dirty="0">
                <a:solidFill>
                  <a:srgbClr val="6B829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07 / 10</a:t>
            </a:r>
            <a:endParaRPr lang="en-US" sz="619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A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7194"/>
            <a:ext cx="1306190" cy="175022"/>
          </a:xfrm>
          <a:prstGeom prst="roundRect">
            <a:avLst>
              <a:gd name="adj" fmla="val 5436731"/>
            </a:avLst>
          </a:prstGeom>
          <a:solidFill>
            <a:srgbClr val="C9E4F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407194"/>
            <a:ext cx="1306190" cy="233315"/>
          </a:xfrm>
          <a:prstGeom prst="rect">
            <a:avLst/>
          </a:prstGeom>
          <a:noFill/>
          <a:ln/>
        </p:spPr>
        <p:txBody>
          <a:bodyPr wrap="none" lIns="71438" tIns="28575" rIns="71438" bIns="28575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kern="0" spc="37" dirty="0">
                <a:solidFill>
                  <a:srgbClr val="2E78B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08 · TASK 26 · RISK MATRIX</a:t>
            </a:r>
            <a:endParaRPr lang="en-US" sz="619" dirty="0"/>
          </a:p>
        </p:txBody>
      </p:sp>
      <p:sp>
        <p:nvSpPr>
          <p:cNvPr id="4" name="Text 2"/>
          <p:cNvSpPr/>
          <p:nvPr/>
        </p:nvSpPr>
        <p:spPr>
          <a:xfrm>
            <a:off x="457200" y="667941"/>
            <a:ext cx="8636000" cy="333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30"/>
              </a:lnSpc>
              <a:buNone/>
            </a:pPr>
            <a:r>
              <a:rPr lang="en-US" sz="2025" dirty="0">
                <a:solidFill>
                  <a:srgbClr val="1E3A5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Findings at a glance</a:t>
            </a:r>
            <a:endParaRPr lang="en-US" sz="2025" dirty="0"/>
          </a:p>
        </p:txBody>
      </p:sp>
      <p:sp>
        <p:nvSpPr>
          <p:cNvPr id="5" name="Text 3"/>
          <p:cNvSpPr/>
          <p:nvPr/>
        </p:nvSpPr>
        <p:spPr>
          <a:xfrm>
            <a:off x="457200" y="1033611"/>
            <a:ext cx="7000875" cy="173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6"/>
              </a:lnSpc>
              <a:buNone/>
            </a:pPr>
            <a:r>
              <a:rPr lang="en-US" sz="844" dirty="0">
                <a:solidFill>
                  <a:srgbClr val="3A54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Six vulnerability classes tested, all confirmed exploitable on DVWA — overall risk rating HIGH.</a:t>
            </a:r>
            <a:endParaRPr lang="en-US" sz="844" dirty="0"/>
          </a:p>
        </p:txBody>
      </p:sp>
      <p:sp>
        <p:nvSpPr>
          <p:cNvPr id="6" name="Text 4"/>
          <p:cNvSpPr/>
          <p:nvPr/>
        </p:nvSpPr>
        <p:spPr>
          <a:xfrm>
            <a:off x="460772" y="1355080"/>
            <a:ext cx="5633517" cy="450056"/>
          </a:xfrm>
          <a:prstGeom prst="roundRect">
            <a:avLst>
              <a:gd name="adj" fmla="val 38095"/>
            </a:avLst>
          </a:prstGeom>
          <a:solidFill>
            <a:srgbClr val="FFFFFF"/>
          </a:solidFill>
          <a:ln w="7144">
            <a:solidFill>
              <a:srgbClr val="D6E8F5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92931" y="1472952"/>
            <a:ext cx="1181174" cy="214313"/>
          </a:xfrm>
          <a:prstGeom prst="rect">
            <a:avLst/>
          </a:prstGeom>
          <a:noFill/>
          <a:ln/>
        </p:spPr>
        <p:txBody>
          <a:bodyPr wrap="none" lIns="0" tIns="5715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kern="0" spc="59" dirty="0">
                <a:solidFill>
                  <a:srgbClr val="A037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CRITICAL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493044" y="1472952"/>
            <a:ext cx="2095016" cy="214313"/>
          </a:xfrm>
          <a:prstGeom prst="roundRect">
            <a:avLst>
              <a:gd name="adj" fmla="val 4439990"/>
            </a:avLst>
          </a:prstGeom>
          <a:solidFill>
            <a:srgbClr val="D96666">
              <a:alpha val="16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493044" y="1472952"/>
            <a:ext cx="4469085" cy="214313"/>
          </a:xfrm>
          <a:prstGeom prst="rect">
            <a:avLst/>
          </a:prstGeom>
          <a:noFill/>
          <a:ln/>
        </p:spPr>
        <p:txBody>
          <a:bodyPr wrap="square" lIns="100013" tIns="42863" rIns="100013" bIns="42863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dirty="0">
                <a:solidFill>
                  <a:srgbClr val="A037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SQL Injection — Authentication Bypass · TASK 24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60772" y="1926580"/>
            <a:ext cx="5633517" cy="735806"/>
          </a:xfrm>
          <a:prstGeom prst="roundRect">
            <a:avLst>
              <a:gd name="adj" fmla="val 23301"/>
            </a:avLst>
          </a:prstGeom>
          <a:solidFill>
            <a:srgbClr val="FFFFFF"/>
          </a:solidFill>
          <a:ln w="7144">
            <a:solidFill>
              <a:srgbClr val="D6E8F5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92931" y="2044452"/>
            <a:ext cx="1257300" cy="232117"/>
          </a:xfrm>
          <a:prstGeom prst="rect">
            <a:avLst/>
          </a:prstGeom>
          <a:noFill/>
          <a:ln/>
        </p:spPr>
        <p:txBody>
          <a:bodyPr wrap="none" lIns="0" tIns="5715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kern="0" spc="59" dirty="0">
                <a:solidFill>
                  <a:srgbClr val="8A561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HIGH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493044" y="2031650"/>
            <a:ext cx="1054596" cy="239916"/>
          </a:xfrm>
          <a:prstGeom prst="roundRect">
            <a:avLst>
              <a:gd name="adj" fmla="val 3966169"/>
            </a:avLst>
          </a:prstGeom>
          <a:solidFill>
            <a:srgbClr val="E8A33D">
              <a:alpha val="2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493044" y="2044452"/>
            <a:ext cx="1054596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013"/>
              </a:lnSpc>
              <a:buNone/>
            </a:pPr>
            <a:r>
              <a:rPr lang="en-US" sz="800" dirty="0">
                <a:solidFill>
                  <a:srgbClr val="8A561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Stored XSS · TASK 24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619077" y="2031650"/>
            <a:ext cx="1164208" cy="239916"/>
          </a:xfrm>
          <a:prstGeom prst="roundRect">
            <a:avLst>
              <a:gd name="adj" fmla="val 3966169"/>
            </a:avLst>
          </a:prstGeom>
          <a:solidFill>
            <a:srgbClr val="E8A33D">
              <a:alpha val="2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619077" y="2044452"/>
            <a:ext cx="116420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013"/>
              </a:lnSpc>
              <a:buNone/>
            </a:pPr>
            <a:r>
              <a:rPr lang="en-US" sz="800" dirty="0">
                <a:solidFill>
                  <a:srgbClr val="8A561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Reflected XSS · TASK 24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854723" y="2044452"/>
            <a:ext cx="1691394" cy="214313"/>
          </a:xfrm>
          <a:prstGeom prst="roundRect">
            <a:avLst>
              <a:gd name="adj" fmla="val 4439990"/>
            </a:avLst>
          </a:prstGeom>
          <a:solidFill>
            <a:srgbClr val="E8A33D">
              <a:alpha val="2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854723" y="2044452"/>
            <a:ext cx="2107406" cy="274320"/>
          </a:xfrm>
          <a:prstGeom prst="rect">
            <a:avLst/>
          </a:prstGeom>
          <a:noFill/>
          <a:ln/>
        </p:spPr>
        <p:txBody>
          <a:bodyPr wrap="square" lIns="100013" tIns="42863" rIns="100013" bIns="42863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dirty="0">
                <a:solidFill>
                  <a:srgbClr val="8A561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Auth Bypass — Weak Creds · TASK 24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470184" y="2317400"/>
            <a:ext cx="866693" cy="239916"/>
          </a:xfrm>
          <a:prstGeom prst="roundRect">
            <a:avLst>
              <a:gd name="adj" fmla="val 3966169"/>
            </a:avLst>
          </a:prstGeom>
          <a:solidFill>
            <a:srgbClr val="E8A33D">
              <a:alpha val="2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436770" y="2330202"/>
            <a:ext cx="93352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013"/>
              </a:lnSpc>
              <a:buNone/>
            </a:pPr>
            <a:r>
              <a:rPr lang="en-US" sz="800" dirty="0">
                <a:solidFill>
                  <a:srgbClr val="8A561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IDOR · TASK 24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60772" y="2783830"/>
            <a:ext cx="5633517" cy="735806"/>
          </a:xfrm>
          <a:prstGeom prst="roundRect">
            <a:avLst>
              <a:gd name="adj" fmla="val 23301"/>
            </a:avLst>
          </a:prstGeom>
          <a:solidFill>
            <a:srgbClr val="FFFFFF"/>
          </a:solidFill>
          <a:ln w="7144">
            <a:solidFill>
              <a:srgbClr val="D6E8F5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92931" y="2901702"/>
            <a:ext cx="1181174" cy="232117"/>
          </a:xfrm>
          <a:prstGeom prst="rect">
            <a:avLst/>
          </a:prstGeom>
          <a:noFill/>
          <a:ln/>
        </p:spPr>
        <p:txBody>
          <a:bodyPr wrap="none" lIns="0" tIns="5715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kern="0" spc="59" dirty="0">
                <a:solidFill>
                  <a:srgbClr val="2E78B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MEDIUM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493044" y="2901702"/>
            <a:ext cx="1385553" cy="214313"/>
          </a:xfrm>
          <a:prstGeom prst="roundRect">
            <a:avLst>
              <a:gd name="adj" fmla="val 4439990"/>
            </a:avLst>
          </a:prstGeom>
          <a:solidFill>
            <a:srgbClr val="5DA9DD">
              <a:alpha val="2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493044" y="2901702"/>
            <a:ext cx="1421271" cy="274320"/>
          </a:xfrm>
          <a:prstGeom prst="rect">
            <a:avLst/>
          </a:prstGeom>
          <a:noFill/>
          <a:ln/>
        </p:spPr>
        <p:txBody>
          <a:bodyPr wrap="none" lIns="100013" tIns="42863" rIns="100013" bIns="42863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675" dirty="0">
                <a:solidFill>
                  <a:srgbClr val="2E78B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CSRF + Brute Force · TASK 24</a:t>
            </a:r>
            <a:endParaRPr lang="en-US" sz="675" dirty="0"/>
          </a:p>
        </p:txBody>
      </p:sp>
      <p:sp>
        <p:nvSpPr>
          <p:cNvPr id="24" name="Text 22"/>
          <p:cNvSpPr/>
          <p:nvPr/>
        </p:nvSpPr>
        <p:spPr>
          <a:xfrm>
            <a:off x="2950034" y="2901702"/>
            <a:ext cx="1792970" cy="214313"/>
          </a:xfrm>
          <a:prstGeom prst="roundRect">
            <a:avLst>
              <a:gd name="adj" fmla="val 4439990"/>
            </a:avLst>
          </a:prstGeom>
          <a:solidFill>
            <a:srgbClr val="5DA9DD">
              <a:alpha val="2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2950034" y="2901702"/>
            <a:ext cx="3012095" cy="274320"/>
          </a:xfrm>
          <a:prstGeom prst="rect">
            <a:avLst/>
          </a:prstGeom>
          <a:noFill/>
          <a:ln/>
        </p:spPr>
        <p:txBody>
          <a:bodyPr wrap="square" lIns="100013" tIns="42863" rIns="100013" bIns="42863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dirty="0">
                <a:solidFill>
                  <a:srgbClr val="2E78B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Directory &amp; Endpoint Discovery · TASK 25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493044" y="3187452"/>
            <a:ext cx="1419820" cy="214313"/>
          </a:xfrm>
          <a:prstGeom prst="roundRect">
            <a:avLst>
              <a:gd name="adj" fmla="val 4439990"/>
            </a:avLst>
          </a:prstGeom>
          <a:solidFill>
            <a:srgbClr val="5DA9DD">
              <a:alpha val="2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1493044" y="3187452"/>
            <a:ext cx="1419820" cy="214313"/>
          </a:xfrm>
          <a:prstGeom prst="rect">
            <a:avLst/>
          </a:prstGeom>
          <a:noFill/>
          <a:ln/>
        </p:spPr>
        <p:txBody>
          <a:bodyPr wrap="none" lIns="100013" tIns="42863" rIns="100013" bIns="42863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675" dirty="0">
                <a:solidFill>
                  <a:srgbClr val="2E78B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Internal IP Disclosure · TASK 22</a:t>
            </a:r>
            <a:endParaRPr lang="en-US" sz="675" dirty="0"/>
          </a:p>
        </p:txBody>
      </p:sp>
      <p:sp>
        <p:nvSpPr>
          <p:cNvPr id="28" name="Text 26"/>
          <p:cNvSpPr/>
          <p:nvPr/>
        </p:nvSpPr>
        <p:spPr>
          <a:xfrm>
            <a:off x="460772" y="3641080"/>
            <a:ext cx="5633517" cy="450056"/>
          </a:xfrm>
          <a:prstGeom prst="roundRect">
            <a:avLst>
              <a:gd name="adj" fmla="val 38095"/>
            </a:avLst>
          </a:prstGeom>
          <a:solidFill>
            <a:srgbClr val="FFFFFF"/>
          </a:solidFill>
          <a:ln w="7144">
            <a:solidFill>
              <a:srgbClr val="D6E8F5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92931" y="3758952"/>
            <a:ext cx="1257300" cy="214313"/>
          </a:xfrm>
          <a:prstGeom prst="rect">
            <a:avLst/>
          </a:prstGeom>
          <a:noFill/>
          <a:ln/>
        </p:spPr>
        <p:txBody>
          <a:bodyPr wrap="none" lIns="0" tIns="5715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kern="0" spc="59" dirty="0">
                <a:solidFill>
                  <a:srgbClr val="6B829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LOW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493044" y="3758952"/>
            <a:ext cx="1578546" cy="214313"/>
          </a:xfrm>
          <a:prstGeom prst="roundRect">
            <a:avLst>
              <a:gd name="adj" fmla="val 4439990"/>
            </a:avLst>
          </a:prstGeom>
          <a:solidFill>
            <a:srgbClr val="6B829A">
              <a:alpha val="1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1493044" y="3758952"/>
            <a:ext cx="1614264" cy="214313"/>
          </a:xfrm>
          <a:prstGeom prst="rect">
            <a:avLst/>
          </a:prstGeom>
          <a:noFill/>
          <a:ln/>
        </p:spPr>
        <p:txBody>
          <a:bodyPr wrap="square" lIns="100013" tIns="42863" rIns="100013" bIns="42863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675" dirty="0">
                <a:solidFill>
                  <a:srgbClr val="6B829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Missing Security Headers · TASK 25</a:t>
            </a:r>
            <a:endParaRPr lang="en-US" sz="675" dirty="0"/>
          </a:p>
        </p:txBody>
      </p:sp>
      <p:sp>
        <p:nvSpPr>
          <p:cNvPr id="32" name="Text 30"/>
          <p:cNvSpPr/>
          <p:nvPr/>
        </p:nvSpPr>
        <p:spPr>
          <a:xfrm>
            <a:off x="3143027" y="3758952"/>
            <a:ext cx="1592945" cy="214313"/>
          </a:xfrm>
          <a:prstGeom prst="roundRect">
            <a:avLst>
              <a:gd name="adj" fmla="val 4439990"/>
            </a:avLst>
          </a:prstGeom>
          <a:solidFill>
            <a:srgbClr val="6B829A">
              <a:alpha val="1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3143027" y="3758952"/>
            <a:ext cx="2819102" cy="214313"/>
          </a:xfrm>
          <a:prstGeom prst="rect">
            <a:avLst/>
          </a:prstGeom>
          <a:noFill/>
          <a:ln/>
        </p:spPr>
        <p:txBody>
          <a:bodyPr wrap="square" lIns="100013" tIns="42863" rIns="100013" bIns="42863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dirty="0">
                <a:solidFill>
                  <a:srgbClr val="6B829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Server Version Disclosure · TASK 22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272882" y="1355080"/>
            <a:ext cx="2410346" cy="2736056"/>
          </a:xfrm>
          <a:prstGeom prst="roundRect">
            <a:avLst>
              <a:gd name="adj" fmla="val 7113"/>
            </a:avLst>
          </a:prstGeom>
          <a:solidFill>
            <a:srgbClr val="DCEEFB"/>
          </a:solidFill>
          <a:ln w="7144">
            <a:solidFill>
              <a:srgbClr val="D6E8F5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433617" y="1515814"/>
            <a:ext cx="2088877" cy="4869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600" b="1" kern="0" spc="-72" dirty="0">
                <a:solidFill>
                  <a:srgbClr val="2E78B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 / 6</a:t>
            </a:r>
            <a:endParaRPr lang="en-US" sz="3600" dirty="0"/>
          </a:p>
        </p:txBody>
      </p:sp>
      <p:sp>
        <p:nvSpPr>
          <p:cNvPr id="36" name="Text 34"/>
          <p:cNvSpPr/>
          <p:nvPr/>
        </p:nvSpPr>
        <p:spPr>
          <a:xfrm>
            <a:off x="6433617" y="2030164"/>
            <a:ext cx="2198605" cy="159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60"/>
              </a:lnSpc>
              <a:buNone/>
            </a:pPr>
            <a:r>
              <a:rPr lang="en-US" sz="731" dirty="0">
                <a:solidFill>
                  <a:srgbClr val="6B829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vulnerability classes confirmed exploitable</a:t>
            </a:r>
            <a:endParaRPr lang="en-US" sz="731" dirty="0"/>
          </a:p>
        </p:txBody>
      </p:sp>
      <p:sp>
        <p:nvSpPr>
          <p:cNvPr id="37" name="Shape 35"/>
          <p:cNvSpPr/>
          <p:nvPr/>
        </p:nvSpPr>
        <p:spPr>
          <a:xfrm>
            <a:off x="6433617" y="2282651"/>
            <a:ext cx="2088877" cy="0"/>
          </a:xfrm>
          <a:prstGeom prst="line">
            <a:avLst/>
          </a:prstGeom>
          <a:noFill/>
          <a:ln w="7144">
            <a:solidFill>
              <a:srgbClr val="D6E8F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Text 36"/>
          <p:cNvSpPr/>
          <p:nvPr/>
        </p:nvSpPr>
        <p:spPr>
          <a:xfrm>
            <a:off x="6433617" y="2386236"/>
            <a:ext cx="2088877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37" dirty="0">
                <a:solidFill>
                  <a:srgbClr val="6B829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OVERALL RISK RATING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437188" y="2564829"/>
            <a:ext cx="796417" cy="350044"/>
          </a:xfrm>
          <a:prstGeom prst="roundRect">
            <a:avLst>
              <a:gd name="adj" fmla="val 32653"/>
            </a:avLst>
          </a:prstGeom>
          <a:solidFill>
            <a:srgbClr val="D96666">
              <a:alpha val="14000"/>
            </a:srgbClr>
          </a:solidFill>
          <a:ln w="7144">
            <a:solidFill>
              <a:srgbClr val="D96666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6433617" y="2561258"/>
            <a:ext cx="803560" cy="357188"/>
          </a:xfrm>
          <a:prstGeom prst="rect">
            <a:avLst/>
          </a:prstGeom>
          <a:noFill/>
          <a:ln/>
        </p:spPr>
        <p:txBody>
          <a:bodyPr wrap="none" lIns="128588" tIns="71438" rIns="128588" bIns="71438" rtlCol="0" anchor="ctr"/>
          <a:lstStyle/>
          <a:p>
            <a:pPr marL="0" indent="0" algn="ctr">
              <a:lnSpc>
                <a:spcPts val="1575"/>
              </a:lnSpc>
              <a:buNone/>
            </a:pPr>
            <a:r>
              <a:rPr lang="en-US" sz="1575" b="1" kern="0" spc="63" dirty="0">
                <a:solidFill>
                  <a:srgbClr val="A037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HIGH</a:t>
            </a:r>
            <a:endParaRPr lang="en-US" sz="1575" dirty="0"/>
          </a:p>
        </p:txBody>
      </p:sp>
      <p:sp>
        <p:nvSpPr>
          <p:cNvPr id="41" name="Text 39"/>
          <p:cNvSpPr/>
          <p:nvPr/>
        </p:nvSpPr>
        <p:spPr>
          <a:xfrm>
            <a:off x="6433617" y="3018458"/>
            <a:ext cx="2088877" cy="6800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46"/>
              </a:lnSpc>
              <a:buNone/>
            </a:pPr>
            <a:r>
              <a:rPr lang="en-US" sz="800" dirty="0">
                <a:solidFill>
                  <a:srgbClr val="3A54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These are DVWA's intentional flaws — but unsanitized SQL, unencoded output, predictable session handling, missing CSRF tokens, and exposed admin endpoints still ship in production web apps today.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57200" y="4868466"/>
            <a:ext cx="795289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25" dirty="0">
                <a:solidFill>
                  <a:srgbClr val="6B829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Week 7 VAPT · DG Interns Hub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8424379" y="4868466"/>
            <a:ext cx="36501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kern="0" spc="25" dirty="0">
                <a:solidFill>
                  <a:srgbClr val="6B829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08 / 10</a:t>
            </a:r>
            <a:endParaRPr lang="en-US" sz="619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A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7194"/>
            <a:ext cx="2358442" cy="175022"/>
          </a:xfrm>
          <a:prstGeom prst="roundRect">
            <a:avLst>
              <a:gd name="adj" fmla="val 5436731"/>
            </a:avLst>
          </a:prstGeom>
          <a:solidFill>
            <a:srgbClr val="C9E4F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407194"/>
            <a:ext cx="2358442" cy="233315"/>
          </a:xfrm>
          <a:prstGeom prst="rect">
            <a:avLst/>
          </a:prstGeom>
          <a:noFill/>
          <a:ln/>
        </p:spPr>
        <p:txBody>
          <a:bodyPr wrap="square" lIns="71438" tIns="28575" rIns="71438" bIns="28575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kern="0" spc="37" dirty="0">
                <a:solidFill>
                  <a:srgbClr val="2E78B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09 · TASK 26 · REMEDIATION + REPORT STRUCTURE</a:t>
            </a:r>
            <a:endParaRPr lang="en-US" sz="619" dirty="0"/>
          </a:p>
        </p:txBody>
      </p:sp>
      <p:sp>
        <p:nvSpPr>
          <p:cNvPr id="4" name="Text 2"/>
          <p:cNvSpPr/>
          <p:nvPr/>
        </p:nvSpPr>
        <p:spPr>
          <a:xfrm>
            <a:off x="457200" y="667941"/>
            <a:ext cx="8636000" cy="2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dirty="0">
                <a:solidFill>
                  <a:srgbClr val="1E3A5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Code-level fixes + report structure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999344"/>
            <a:ext cx="7000875" cy="3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21"/>
              </a:lnSpc>
              <a:buNone/>
            </a:pPr>
            <a:r>
              <a:rPr lang="en-US" sz="800" dirty="0">
                <a:solidFill>
                  <a:srgbClr val="3A54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written VAPT report covers each finding across all six required fields — Name, Description, Steps to Reproduce, Proof, Impact, Remediation. Code-level fixes below would close each class at the source.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60772" y="1441363"/>
            <a:ext cx="4021931" cy="2044452"/>
          </a:xfrm>
          <a:prstGeom prst="roundRect">
            <a:avLst>
              <a:gd name="adj" fmla="val 8386"/>
            </a:avLst>
          </a:prstGeom>
          <a:solidFill>
            <a:srgbClr val="FFFFFF"/>
          </a:solidFill>
          <a:ln w="7144">
            <a:solidFill>
              <a:srgbClr val="D6E8F5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21506" y="1594954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47" dirty="0">
                <a:solidFill>
                  <a:srgbClr val="2E78B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547" dirty="0"/>
          </a:p>
        </p:txBody>
      </p:sp>
      <p:sp>
        <p:nvSpPr>
          <p:cNvPr id="8" name="Text 6"/>
          <p:cNvSpPr/>
          <p:nvPr/>
        </p:nvSpPr>
        <p:spPr>
          <a:xfrm>
            <a:off x="835819" y="1587810"/>
            <a:ext cx="3486150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1E3A5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Code-level fixes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21506" y="1844985"/>
            <a:ext cx="3700463" cy="1584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350"/>
              </a:lnSpc>
              <a:buSzPct val="100000"/>
              <a:buFont typeface="+mj-lt"/>
              <a:buAutoNum type="arabicPeriod"/>
            </a:pPr>
            <a:r>
              <a:rPr lang="en-US" sz="900" dirty="0">
                <a:solidFill>
                  <a:srgbClr val="1E3A5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 Parameterized queries + ORM-safe defaults — kill SQLi at the source.</a:t>
            </a:r>
            <a:endParaRPr lang="en-US" sz="900" dirty="0"/>
          </a:p>
          <a:p>
            <a:pPr marL="342900" indent="-342900" algn="l">
              <a:lnSpc>
                <a:spcPts val="1350"/>
              </a:lnSpc>
              <a:buSzPct val="100000"/>
              <a:buFont typeface="+mj-lt"/>
              <a:buAutoNum type="arabicPeriod"/>
            </a:pPr>
            <a:r>
              <a:rPr lang="en-US" sz="900" dirty="0">
                <a:solidFill>
                  <a:srgbClr val="1E3A5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 Context-aware output encoding for every XSS surface (HTML, JS, URL, attribute).</a:t>
            </a:r>
            <a:endParaRPr lang="en-US" sz="900" dirty="0"/>
          </a:p>
          <a:p>
            <a:pPr marL="342900" indent="-342900" algn="l">
              <a:lnSpc>
                <a:spcPts val="1350"/>
              </a:lnSpc>
              <a:buSzPct val="100000"/>
              <a:buFont typeface="+mj-lt"/>
              <a:buAutoNum type="arabicPeriod"/>
            </a:pPr>
            <a:r>
              <a:rPr lang="en-US" sz="900" dirty="0">
                <a:solidFill>
                  <a:srgbClr val="1E3A5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3 Server-side authorization check per request — close IDOR at the gate.</a:t>
            </a:r>
            <a:endParaRPr lang="en-US" sz="900" dirty="0"/>
          </a:p>
          <a:p>
            <a:pPr marL="342900" indent="-342900" algn="l">
              <a:lnSpc>
                <a:spcPts val="1350"/>
              </a:lnSpc>
              <a:buSzPct val="100000"/>
              <a:buFont typeface="+mj-lt"/>
              <a:buAutoNum type="arabicPeriod"/>
            </a:pPr>
            <a:r>
              <a:rPr lang="en-US" sz="900" dirty="0">
                <a:solidFill>
                  <a:srgbClr val="1E3A5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4 Anti-CSRF tokens + SameSite=Strict cookies on state-changing endpoints.</a:t>
            </a:r>
            <a:endParaRPr lang="en-US" sz="900" dirty="0"/>
          </a:p>
          <a:p>
            <a:pPr marL="342900" indent="-342900" algn="l">
              <a:lnSpc>
                <a:spcPts val="1350"/>
              </a:lnSpc>
              <a:buSzPct val="100000"/>
              <a:buFont typeface="+mj-lt"/>
              <a:buAutoNum type="arabicPeriod"/>
            </a:pPr>
            <a:r>
              <a:rPr lang="en-US" sz="900" dirty="0">
                <a:solidFill>
                  <a:srgbClr val="1E3A5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5 Rate-limit + account lockout + MFA on login — brute force stops being free.</a:t>
            </a:r>
            <a:endParaRPr lang="en-US" sz="900" dirty="0"/>
          </a:p>
          <a:p>
            <a:pPr marL="342900" indent="-342900" algn="l">
              <a:lnSpc>
                <a:spcPts val="1350"/>
              </a:lnSpc>
              <a:buSzPct val="100000"/>
              <a:buFont typeface="+mj-lt"/>
              <a:buAutoNum type="arabicPeriod"/>
            </a:pPr>
            <a:r>
              <a:rPr lang="en-US" sz="900" dirty="0">
                <a:solidFill>
                  <a:srgbClr val="1E3A5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6 Restrict /admin by IP whitelist. Remove backup files from web root. Hide server/framework versions.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661297" y="1441363"/>
            <a:ext cx="4021931" cy="2044452"/>
          </a:xfrm>
          <a:prstGeom prst="roundRect">
            <a:avLst>
              <a:gd name="adj" fmla="val 8386"/>
            </a:avLst>
          </a:prstGeom>
          <a:solidFill>
            <a:srgbClr val="DCEEFB"/>
          </a:solidFill>
          <a:ln w="7144">
            <a:solidFill>
              <a:srgbClr val="D6E8F5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822031" y="1594954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47" dirty="0">
                <a:solidFill>
                  <a:srgbClr val="2E78B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547" dirty="0"/>
          </a:p>
        </p:txBody>
      </p:sp>
      <p:sp>
        <p:nvSpPr>
          <p:cNvPr id="12" name="Text 10"/>
          <p:cNvSpPr/>
          <p:nvPr/>
        </p:nvSpPr>
        <p:spPr>
          <a:xfrm>
            <a:off x="5036344" y="1587810"/>
            <a:ext cx="3486150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1E3A5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Report structure per finding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822031" y="1830698"/>
            <a:ext cx="3700463" cy="3324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800" dirty="0">
                <a:solidFill>
                  <a:srgbClr val="3A54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Each of the 3+ working vulnerabilities documented in the written report follows the same six-field structure required by Task 26: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822031" y="2177762"/>
            <a:ext cx="1821656" cy="272063"/>
          </a:xfrm>
          <a:prstGeom prst="roundRect">
            <a:avLst>
              <a:gd name="adj" fmla="val 28008"/>
            </a:avLst>
          </a:prstGeom>
          <a:solidFill>
            <a:srgbClr val="FFFFFF"/>
          </a:solidFill>
          <a:ln w="7144">
            <a:solidFill>
              <a:srgbClr val="D6E8F5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914900" y="2256644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2E78B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⌧</a:t>
            </a:r>
            <a:endParaRPr lang="en-US" sz="1125" dirty="0"/>
          </a:p>
        </p:txBody>
      </p:sp>
      <p:sp>
        <p:nvSpPr>
          <p:cNvPr id="16" name="Text 14"/>
          <p:cNvSpPr/>
          <p:nvPr/>
        </p:nvSpPr>
        <p:spPr>
          <a:xfrm>
            <a:off x="5086350" y="2254858"/>
            <a:ext cx="1464469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1E3A5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Vulnerability Name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700838" y="2177762"/>
            <a:ext cx="1821656" cy="272063"/>
          </a:xfrm>
          <a:prstGeom prst="roundRect">
            <a:avLst>
              <a:gd name="adj" fmla="val 28008"/>
            </a:avLst>
          </a:prstGeom>
          <a:solidFill>
            <a:srgbClr val="FFFFFF"/>
          </a:solidFill>
          <a:ln w="7144">
            <a:solidFill>
              <a:srgbClr val="D6E8F5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793706" y="2256644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2E78B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125" dirty="0"/>
          </a:p>
        </p:txBody>
      </p:sp>
      <p:sp>
        <p:nvSpPr>
          <p:cNvPr id="19" name="Text 17"/>
          <p:cNvSpPr/>
          <p:nvPr/>
        </p:nvSpPr>
        <p:spPr>
          <a:xfrm>
            <a:off x="6965156" y="2254858"/>
            <a:ext cx="1464469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1E3A5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Description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822031" y="2481372"/>
            <a:ext cx="1821656" cy="272063"/>
          </a:xfrm>
          <a:prstGeom prst="roundRect">
            <a:avLst>
              <a:gd name="adj" fmla="val 28008"/>
            </a:avLst>
          </a:prstGeom>
          <a:solidFill>
            <a:srgbClr val="FFFFFF"/>
          </a:solidFill>
          <a:ln w="7144">
            <a:solidFill>
              <a:srgbClr val="D6E8F5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914900" y="2560253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2E78B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125" dirty="0"/>
          </a:p>
        </p:txBody>
      </p:sp>
      <p:sp>
        <p:nvSpPr>
          <p:cNvPr id="22" name="Text 20"/>
          <p:cNvSpPr/>
          <p:nvPr/>
        </p:nvSpPr>
        <p:spPr>
          <a:xfrm>
            <a:off x="5086350" y="2558467"/>
            <a:ext cx="1464469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1E3A5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Steps to Reproduce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704409" y="2497745"/>
            <a:ext cx="1814513" cy="239316"/>
          </a:xfrm>
          <a:prstGeom prst="roundRect">
            <a:avLst>
              <a:gd name="adj" fmla="val 31841"/>
            </a:avLst>
          </a:prstGeom>
          <a:solidFill>
            <a:srgbClr val="FFFFFF"/>
          </a:solidFill>
          <a:ln w="7144">
            <a:solidFill>
              <a:srgbClr val="D6E8F5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793706" y="2560253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2E78B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◉</a:t>
            </a:r>
            <a:endParaRPr lang="en-US" sz="1125" dirty="0"/>
          </a:p>
        </p:txBody>
      </p:sp>
      <p:sp>
        <p:nvSpPr>
          <p:cNvPr id="25" name="Text 23"/>
          <p:cNvSpPr/>
          <p:nvPr/>
        </p:nvSpPr>
        <p:spPr>
          <a:xfrm>
            <a:off x="6965156" y="2558467"/>
            <a:ext cx="1464469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1E3A5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Proof (Burp screenshot)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822031" y="2784981"/>
            <a:ext cx="1821656" cy="272063"/>
          </a:xfrm>
          <a:prstGeom prst="roundRect">
            <a:avLst>
              <a:gd name="adj" fmla="val 28008"/>
            </a:avLst>
          </a:prstGeom>
          <a:solidFill>
            <a:srgbClr val="FFFFFF"/>
          </a:solidFill>
          <a:ln w="7144">
            <a:solidFill>
              <a:srgbClr val="D6E8F5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914900" y="2863862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2E78B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⚠</a:t>
            </a:r>
            <a:endParaRPr lang="en-US" sz="1125" dirty="0"/>
          </a:p>
        </p:txBody>
      </p:sp>
      <p:sp>
        <p:nvSpPr>
          <p:cNvPr id="28" name="Text 26"/>
          <p:cNvSpPr/>
          <p:nvPr/>
        </p:nvSpPr>
        <p:spPr>
          <a:xfrm>
            <a:off x="5086350" y="2862076"/>
            <a:ext cx="1464469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1E3A5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Impact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700838" y="2784981"/>
            <a:ext cx="1821656" cy="272063"/>
          </a:xfrm>
          <a:prstGeom prst="roundRect">
            <a:avLst>
              <a:gd name="adj" fmla="val 28008"/>
            </a:avLst>
          </a:prstGeom>
          <a:solidFill>
            <a:srgbClr val="FFFFFF"/>
          </a:solidFill>
          <a:ln w="7144">
            <a:solidFill>
              <a:srgbClr val="D6E8F5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793706" y="2863862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2E78B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⚒</a:t>
            </a:r>
            <a:endParaRPr lang="en-US" sz="1125" dirty="0"/>
          </a:p>
        </p:txBody>
      </p:sp>
      <p:sp>
        <p:nvSpPr>
          <p:cNvPr id="31" name="Text 29"/>
          <p:cNvSpPr/>
          <p:nvPr/>
        </p:nvSpPr>
        <p:spPr>
          <a:xfrm>
            <a:off x="6965156" y="2862076"/>
            <a:ext cx="1464469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1E3A5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Remediation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822031" y="3129967"/>
            <a:ext cx="370046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2E78B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3 vulnerabilities documented in the 26-page written report.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60772" y="3592971"/>
            <a:ext cx="8222456" cy="321469"/>
          </a:xfrm>
          <a:prstGeom prst="roundRect">
            <a:avLst>
              <a:gd name="adj" fmla="val 53333"/>
            </a:avLst>
          </a:prstGeom>
          <a:solidFill>
            <a:srgbClr val="DCEEFB"/>
          </a:solidFill>
          <a:ln w="7144">
            <a:solidFill>
              <a:srgbClr val="D6E8F5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621506" y="3682268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6" dirty="0">
                <a:solidFill>
                  <a:srgbClr val="2E78B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406" dirty="0"/>
          </a:p>
        </p:txBody>
      </p:sp>
      <p:sp>
        <p:nvSpPr>
          <p:cNvPr id="35" name="Text 33"/>
          <p:cNvSpPr/>
          <p:nvPr/>
        </p:nvSpPr>
        <p:spPr>
          <a:xfrm>
            <a:off x="850106" y="3686398"/>
            <a:ext cx="7672388" cy="1387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60"/>
              </a:lnSpc>
              <a:buNone/>
            </a:pPr>
            <a:r>
              <a:rPr lang="en-US" sz="731" i="1" dirty="0">
                <a:solidFill>
                  <a:srgbClr val="2E78B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Manual testing through Burp Repeater finds the bugs scanners miss. A clean workflow and a written report are what make a VAPT engagement useful to a dev team.</a:t>
            </a:r>
            <a:endParaRPr lang="en-US" sz="731" dirty="0"/>
          </a:p>
        </p:txBody>
      </p:sp>
      <p:sp>
        <p:nvSpPr>
          <p:cNvPr id="36" name="Text 34"/>
          <p:cNvSpPr/>
          <p:nvPr/>
        </p:nvSpPr>
        <p:spPr>
          <a:xfrm>
            <a:off x="457200" y="4868466"/>
            <a:ext cx="795289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25" dirty="0">
                <a:solidFill>
                  <a:srgbClr val="6B829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Week 7 VAPT · DG Interns Hub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8424379" y="4868466"/>
            <a:ext cx="36501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kern="0" spc="25" dirty="0">
                <a:solidFill>
                  <a:srgbClr val="6B829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09 / 10</a:t>
            </a:r>
            <a:endParaRPr lang="en-US" sz="619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-571500" y="-642937"/>
            <a:ext cx="2286000" cy="2286000"/>
          </a:xfrm>
          <a:prstGeom prst="roundRect">
            <a:avLst>
              <a:gd name="adj" fmla="val 4166250"/>
            </a:avLst>
          </a:prstGeom>
          <a:solidFill>
            <a:srgbClr val="BFE0F5">
              <a:alpha val="5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1"/>
          <p:cNvSpPr/>
          <p:nvPr/>
        </p:nvSpPr>
        <p:spPr>
          <a:xfrm>
            <a:off x="7715250" y="3786188"/>
            <a:ext cx="1857375" cy="1857375"/>
          </a:xfrm>
          <a:prstGeom prst="roundRect">
            <a:avLst>
              <a:gd name="adj" fmla="val 5127692"/>
            </a:avLst>
          </a:prstGeom>
          <a:solidFill>
            <a:srgbClr val="D5EBFA">
              <a:alpha val="5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2"/>
          <p:cNvSpPr/>
          <p:nvPr/>
        </p:nvSpPr>
        <p:spPr>
          <a:xfrm>
            <a:off x="0" y="4868466"/>
            <a:ext cx="863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kern="0" spc="37" dirty="0">
                <a:solidFill>
                  <a:srgbClr val="6B829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DVWA LAB ONLY · NO PRODUCTION SYSTEMS TESTED · OWASP WSTG V4.2</a:t>
            </a:r>
            <a:endParaRPr lang="en-US" sz="800" dirty="0"/>
          </a:p>
        </p:txBody>
      </p:sp>
      <p:sp>
        <p:nvSpPr>
          <p:cNvPr id="7" name="Text 3"/>
          <p:cNvSpPr/>
          <p:nvPr/>
        </p:nvSpPr>
        <p:spPr>
          <a:xfrm>
            <a:off x="3775360" y="989186"/>
            <a:ext cx="1593168" cy="175022"/>
          </a:xfrm>
          <a:prstGeom prst="roundRect">
            <a:avLst>
              <a:gd name="adj" fmla="val 5436731"/>
            </a:avLst>
          </a:prstGeom>
          <a:solidFill>
            <a:srgbClr val="C9E4F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3775360" y="989186"/>
            <a:ext cx="1593168" cy="244394"/>
          </a:xfrm>
          <a:prstGeom prst="rect">
            <a:avLst/>
          </a:prstGeom>
          <a:noFill/>
          <a:ln/>
        </p:spPr>
        <p:txBody>
          <a:bodyPr wrap="none" lIns="71438" tIns="28575" rIns="71438" bIns="28575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kern="0" spc="37" dirty="0">
                <a:solidFill>
                  <a:srgbClr val="2E78B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WEEK 07 · ENGAGEMENT CLOSED</a:t>
            </a:r>
            <a:endParaRPr lang="en-US" sz="619" dirty="0"/>
          </a:p>
        </p:txBody>
      </p:sp>
      <p:sp>
        <p:nvSpPr>
          <p:cNvPr id="9" name="Text 5"/>
          <p:cNvSpPr/>
          <p:nvPr/>
        </p:nvSpPr>
        <p:spPr>
          <a:xfrm>
            <a:off x="274320" y="1321371"/>
            <a:ext cx="8595360" cy="45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307"/>
              </a:lnSpc>
              <a:buNone/>
            </a:pPr>
            <a:r>
              <a:rPr lang="en-US" sz="3150" b="1" kern="0" spc="-47" dirty="0">
                <a:solidFill>
                  <a:srgbClr val="1E3A5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Engagement closed.</a:t>
            </a:r>
            <a:endParaRPr lang="en-US" sz="3150" dirty="0"/>
          </a:p>
        </p:txBody>
      </p:sp>
      <p:sp>
        <p:nvSpPr>
          <p:cNvPr id="10" name="Text 6"/>
          <p:cNvSpPr/>
          <p:nvPr/>
        </p:nvSpPr>
        <p:spPr>
          <a:xfrm>
            <a:off x="1643063" y="1841413"/>
            <a:ext cx="5857875" cy="492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94"/>
              </a:lnSpc>
              <a:buNone/>
            </a:pPr>
            <a:r>
              <a:rPr lang="en-US" sz="1238" dirty="0">
                <a:solidFill>
                  <a:srgbClr val="3A54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DVWA tested end-to-end through Burp Suite — six vulnerability classes confirmed, risk matrix produced, written report delivered.</a:t>
            </a:r>
            <a:endParaRPr lang="en-US" sz="1238" dirty="0"/>
          </a:p>
        </p:txBody>
      </p:sp>
      <p:sp>
        <p:nvSpPr>
          <p:cNvPr id="11" name="Text 7"/>
          <p:cNvSpPr/>
          <p:nvPr/>
        </p:nvSpPr>
        <p:spPr>
          <a:xfrm>
            <a:off x="4286250" y="2468500"/>
            <a:ext cx="571500" cy="7144"/>
          </a:xfrm>
          <a:prstGeom prst="rect">
            <a:avLst/>
          </a:prstGeom>
          <a:solidFill>
            <a:srgbClr val="C9E4F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1860947" y="2650666"/>
            <a:ext cx="5422106" cy="861492"/>
          </a:xfrm>
          <a:prstGeom prst="roundRect">
            <a:avLst>
              <a:gd name="adj" fmla="val 19902"/>
            </a:avLst>
          </a:prstGeom>
          <a:solidFill>
            <a:srgbClr val="FFFFFF"/>
          </a:solidFill>
          <a:ln w="7144">
            <a:solidFill>
              <a:srgbClr val="D6E8F5"/>
            </a:solidFill>
            <a:prstDash val="solid"/>
          </a:ln>
          <a:effectLst>
            <a:outerShdw blurRad="266700" dist="76200" dir="5400000" algn="bl" rotWithShape="0">
              <a:srgbClr val="1E3A5F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2064544" y="2811400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88" dirty="0">
                <a:solidFill>
                  <a:srgbClr val="2E78B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688" dirty="0"/>
          </a:p>
        </p:txBody>
      </p:sp>
      <p:sp>
        <p:nvSpPr>
          <p:cNvPr id="14" name="Text 10"/>
          <p:cNvSpPr/>
          <p:nvPr/>
        </p:nvSpPr>
        <p:spPr>
          <a:xfrm>
            <a:off x="2307431" y="2811400"/>
            <a:ext cx="4772025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1E3A5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Engagement takeaway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2064544" y="3054288"/>
            <a:ext cx="5014913" cy="2971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800" dirty="0">
                <a:solidFill>
                  <a:srgbClr val="3A54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Manual testing through Burp Repeater finds the bugs scanners miss. A clean, repeatable workflow and a written report are what make a VAPT engagement useful to a development team — that is what Week 7 was about.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2561481" y="3737186"/>
            <a:ext cx="4021038" cy="1725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lnSpc>
                <a:spcPts val="1350"/>
              </a:lnSpc>
              <a:buNone/>
            </a:pP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2561481" y="3937211"/>
            <a:ext cx="4021038" cy="1242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79"/>
              </a:lnSpc>
              <a:buNone/>
            </a:pPr>
            <a:endParaRPr lang="en-US" sz="6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1801</Words>
  <Application>Microsoft Office PowerPoint</Application>
  <PresentationFormat>On-screen Show (16:9)</PresentationFormat>
  <Paragraphs>252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Carlito</vt:lpstr>
      <vt:lpstr>Liberation Sans Narrow</vt:lpstr>
      <vt:lpstr>Segoe UI Symbol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Mah Noor</cp:lastModifiedBy>
  <cp:revision>2</cp:revision>
  <dcterms:created xsi:type="dcterms:W3CDTF">2026-10-06T19:50:33Z</dcterms:created>
  <dcterms:modified xsi:type="dcterms:W3CDTF">2026-10-06T19:52:29Z</dcterms:modified>
</cp:coreProperties>
</file>